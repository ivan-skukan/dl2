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  <p:sldId id="274" r:id="rId9"/>
    <p:sldId id="263" r:id="rId10"/>
    <p:sldId id="270" r:id="rId11"/>
    <p:sldId id="273" r:id="rId12"/>
    <p:sldId id="267" r:id="rId13"/>
    <p:sldId id="272" r:id="rId14"/>
    <p:sldId id="268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F2472D-1C9D-D500-227C-CA287582DAA3}" v="78" dt="2026-01-18T15:43:50.606"/>
    <p1510:client id="{2F905178-17B9-F468-88AC-85A6352EEB23}" v="979" dt="2026-01-18T17:50:51.458"/>
    <p1510:client id="{518DF14D-C219-19AA-DBBC-CECEE9397FD4}" v="1114" dt="2026-01-18T13:06:12.546"/>
    <p1510:client id="{58C09B35-0EE4-04AB-6404-CBF6DA6E2667}" v="570" dt="2026-01-18T16:39:59.274"/>
    <p1510:client id="{BA4FF2CC-AE29-4D2F-F33C-6FB469838AA2}" v="317" dt="2026-01-18T15:14:10.960"/>
    <p1510:client id="{E3957A01-8668-78D6-BE27-082A552397E6}" v="677" dt="2026-01-18T13:55:59.742"/>
    <p1510:client id="{EBF43316-987B-0E80-BBCB-06EA8564FF6F}" v="32" dt="2026-01-18T14:54:09.6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8E5F77-0A4C-4C65-9AEA-7C23F2261B1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A0CD90E-BF56-4123-BC73-B77832A31B4F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2600">
              <a:latin typeface="Aptos" panose="020B0004020202020204"/>
              <a:ea typeface="+mn-ea"/>
              <a:cs typeface="+mn-cs"/>
            </a:rPr>
            <a:t>Koja </a:t>
          </a:r>
          <a:r>
            <a:rPr lang="en-US" sz="2600" err="1">
              <a:latin typeface="Aptos" panose="020B0004020202020204"/>
              <a:ea typeface="+mn-ea"/>
              <a:cs typeface="+mn-cs"/>
            </a:rPr>
            <a:t>metoda</a:t>
          </a:r>
          <a:r>
            <a:rPr lang="en-US" sz="2600">
              <a:latin typeface="Aptos" panose="020B0004020202020204"/>
              <a:ea typeface="+mn-ea"/>
              <a:cs typeface="+mn-cs"/>
            </a:rPr>
            <a:t> </a:t>
          </a:r>
          <a:r>
            <a:rPr lang="en-US" sz="2600" err="1">
              <a:latin typeface="Aptos" panose="020B0004020202020204"/>
              <a:ea typeface="+mn-ea"/>
              <a:cs typeface="+mn-cs"/>
            </a:rPr>
            <a:t>najbolje</a:t>
          </a:r>
          <a:r>
            <a:rPr lang="en-US" sz="2600">
              <a:latin typeface="Aptos" panose="020B0004020202020204"/>
              <a:ea typeface="+mn-ea"/>
              <a:cs typeface="+mn-cs"/>
            </a:rPr>
            <a:t> </a:t>
          </a:r>
          <a:r>
            <a:rPr lang="en-US" sz="2600" err="1">
              <a:latin typeface="Aptos" panose="020B0004020202020204"/>
              <a:ea typeface="+mn-ea"/>
              <a:cs typeface="+mn-cs"/>
            </a:rPr>
            <a:t>balansira</a:t>
          </a:r>
          <a:r>
            <a:rPr lang="en-US" sz="2600">
              <a:latin typeface="Aptos" panose="020B0004020202020204"/>
              <a:ea typeface="+mn-ea"/>
              <a:cs typeface="+mn-cs"/>
            </a:rPr>
            <a:t> ID </a:t>
          </a:r>
          <a:r>
            <a:rPr lang="en-US" sz="2600" err="1">
              <a:latin typeface="Aptos" panose="020B0004020202020204"/>
              <a:ea typeface="+mn-ea"/>
              <a:cs typeface="+mn-cs"/>
            </a:rPr>
            <a:t>točnost</a:t>
          </a:r>
          <a:r>
            <a:rPr lang="en-US" sz="2600">
              <a:latin typeface="Aptos" panose="020B0004020202020204"/>
              <a:ea typeface="+mn-ea"/>
              <a:cs typeface="+mn-cs"/>
            </a:rPr>
            <a:t> </a:t>
          </a:r>
          <a:r>
            <a:rPr lang="en-US" sz="2600" err="1">
              <a:latin typeface="Aptos" panose="020B0004020202020204"/>
              <a:ea typeface="+mn-ea"/>
              <a:cs typeface="+mn-cs"/>
            </a:rPr>
            <a:t>i</a:t>
          </a:r>
          <a:r>
            <a:rPr lang="en-US" sz="2600">
              <a:latin typeface="Aptos" panose="020B0004020202020204"/>
              <a:ea typeface="+mn-ea"/>
              <a:cs typeface="+mn-cs"/>
            </a:rPr>
            <a:t> OOD </a:t>
          </a:r>
          <a:r>
            <a:rPr lang="en-US" sz="2600" err="1">
              <a:latin typeface="Aptos" panose="020B0004020202020204"/>
              <a:ea typeface="+mn-ea"/>
              <a:cs typeface="+mn-cs"/>
            </a:rPr>
            <a:t>detekciju</a:t>
          </a:r>
          <a:r>
            <a:rPr lang="en-US" sz="2600">
              <a:latin typeface="Aptos" panose="020B0004020202020204"/>
              <a:ea typeface="+mn-ea"/>
              <a:cs typeface="+mn-cs"/>
            </a:rPr>
            <a:t>?</a:t>
          </a:r>
        </a:p>
      </dgm:t>
    </dgm:pt>
    <dgm:pt modelId="{E6547DB3-0215-45C4-A556-3173D4E3C687}" type="parTrans" cxnId="{B4FA57FD-9734-47F6-B936-B2FA7A9B9063}">
      <dgm:prSet/>
      <dgm:spPr/>
      <dgm:t>
        <a:bodyPr/>
        <a:lstStyle/>
        <a:p>
          <a:endParaRPr lang="en-US"/>
        </a:p>
      </dgm:t>
    </dgm:pt>
    <dgm:pt modelId="{7902189A-259D-44D6-9B68-F14C36CF4ADB}" type="sibTrans" cxnId="{B4FA57FD-9734-47F6-B936-B2FA7A9B9063}">
      <dgm:prSet/>
      <dgm:spPr/>
      <dgm:t>
        <a:bodyPr/>
        <a:lstStyle/>
        <a:p>
          <a:endParaRPr lang="en-US"/>
        </a:p>
      </dgm:t>
    </dgm:pt>
    <dgm:pt modelId="{32D94542-9D40-4376-991A-5C3FC4D8EBB9}">
      <dgm:prSet/>
      <dgm:spPr/>
      <dgm:t>
        <a:bodyPr/>
        <a:lstStyle/>
        <a:p>
          <a:pPr algn="ctr" rtl="0">
            <a:lnSpc>
              <a:spcPct val="90000"/>
            </a:lnSpc>
          </a:pPr>
          <a:r>
            <a:rPr lang="en-US" sz="2600">
              <a:latin typeface="Aptos"/>
              <a:ea typeface="+mn-ea"/>
              <a:cs typeface="+mn-cs"/>
            </a:rPr>
            <a:t>Koliko  primjera je </a:t>
          </a:r>
          <a:r>
            <a:rPr lang="en-US" sz="2600" err="1">
              <a:latin typeface="Aptos"/>
              <a:ea typeface="+mn-ea"/>
              <a:cs typeface="+mn-cs"/>
            </a:rPr>
            <a:t>potrebno</a:t>
          </a:r>
          <a:r>
            <a:rPr lang="en-US" sz="2600">
              <a:latin typeface="Aptos"/>
              <a:ea typeface="+mn-ea"/>
              <a:cs typeface="+mn-cs"/>
            </a:rPr>
            <a:t> da </a:t>
          </a:r>
          <a:r>
            <a:rPr lang="en-US" sz="2600" err="1">
              <a:latin typeface="Aptos"/>
              <a:ea typeface="+mn-ea"/>
              <a:cs typeface="+mn-cs"/>
            </a:rPr>
            <a:t>nadmašimo</a:t>
          </a:r>
          <a:r>
            <a:rPr lang="en-US" sz="2600">
              <a:latin typeface="Aptos"/>
              <a:ea typeface="+mn-ea"/>
              <a:cs typeface="+mn-cs"/>
            </a:rPr>
            <a:t> zero-shot?</a:t>
          </a:r>
        </a:p>
      </dgm:t>
    </dgm:pt>
    <dgm:pt modelId="{4BFAF2F5-3B93-4A40-96BA-6322AA6127BE}" type="parTrans" cxnId="{1332E04A-AAA3-45C8-95D5-0B75FDC6FB99}">
      <dgm:prSet/>
      <dgm:spPr/>
      <dgm:t>
        <a:bodyPr/>
        <a:lstStyle/>
        <a:p>
          <a:endParaRPr lang="en-US"/>
        </a:p>
      </dgm:t>
    </dgm:pt>
    <dgm:pt modelId="{15A9E8B6-D536-492E-B373-135B3E87342A}" type="sibTrans" cxnId="{1332E04A-AAA3-45C8-95D5-0B75FDC6FB99}">
      <dgm:prSet/>
      <dgm:spPr/>
      <dgm:t>
        <a:bodyPr/>
        <a:lstStyle/>
        <a:p>
          <a:endParaRPr lang="en-US"/>
        </a:p>
      </dgm:t>
    </dgm:pt>
    <dgm:pt modelId="{D0A2C137-BB8B-4F5B-B9F1-BE8D094101F0}">
      <dgm:prSet/>
      <dgm:spPr/>
      <dgm:t>
        <a:bodyPr/>
        <a:lstStyle/>
        <a:p>
          <a:pPr algn="ctr">
            <a:lnSpc>
              <a:spcPct val="90000"/>
            </a:lnSpc>
          </a:pPr>
          <a:r>
            <a:rPr lang="en-US" sz="2600">
              <a:latin typeface="Aptos" panose="020B0004020202020204"/>
              <a:ea typeface="+mn-ea"/>
              <a:cs typeface="+mn-cs"/>
            </a:rPr>
            <a:t>Ako </a:t>
          </a:r>
          <a:r>
            <a:rPr lang="en-US" sz="2600" err="1">
              <a:latin typeface="Aptos" panose="020B0004020202020204"/>
              <a:ea typeface="+mn-ea"/>
              <a:cs typeface="+mn-cs"/>
            </a:rPr>
            <a:t>neka</a:t>
          </a:r>
          <a:r>
            <a:rPr lang="en-US" sz="2600">
              <a:latin typeface="Aptos" panose="020B0004020202020204"/>
              <a:ea typeface="+mn-ea"/>
              <a:cs typeface="+mn-cs"/>
            </a:rPr>
            <a:t> </a:t>
          </a:r>
          <a:r>
            <a:rPr lang="en-US" sz="2600" err="1">
              <a:latin typeface="Aptos" panose="020B0004020202020204"/>
              <a:ea typeface="+mn-ea"/>
              <a:cs typeface="+mn-cs"/>
            </a:rPr>
            <a:t>metoda</a:t>
          </a:r>
          <a:r>
            <a:rPr lang="en-US" sz="2600">
              <a:latin typeface="Aptos" panose="020B0004020202020204"/>
              <a:ea typeface="+mn-ea"/>
              <a:cs typeface="+mn-cs"/>
            </a:rPr>
            <a:t> ne </a:t>
          </a:r>
          <a:r>
            <a:rPr lang="en-US" sz="2600" err="1">
              <a:latin typeface="Aptos" panose="020B0004020202020204"/>
              <a:ea typeface="+mn-ea"/>
              <a:cs typeface="+mn-cs"/>
            </a:rPr>
            <a:t>uspijeva</a:t>
          </a:r>
          <a:r>
            <a:rPr lang="en-US" sz="2600">
              <a:latin typeface="Aptos" panose="020B0004020202020204"/>
              <a:ea typeface="+mn-ea"/>
              <a:cs typeface="+mn-cs"/>
            </a:rPr>
            <a:t>, </a:t>
          </a:r>
          <a:r>
            <a:rPr lang="en-US" sz="2600" err="1">
              <a:latin typeface="Aptos" panose="020B0004020202020204"/>
              <a:ea typeface="+mn-ea"/>
              <a:cs typeface="+mn-cs"/>
            </a:rPr>
            <a:t>zašto</a:t>
          </a:r>
          <a:r>
            <a:rPr lang="en-US" sz="2600">
              <a:latin typeface="Aptos" panose="020B0004020202020204"/>
              <a:ea typeface="+mn-ea"/>
              <a:cs typeface="+mn-cs"/>
            </a:rPr>
            <a:t>?</a:t>
          </a:r>
        </a:p>
      </dgm:t>
    </dgm:pt>
    <dgm:pt modelId="{10CE0986-E73C-4FEF-8E25-BAF21BE644DA}" type="parTrans" cxnId="{76835840-C536-4B50-B916-6B06ACB6FD30}">
      <dgm:prSet/>
      <dgm:spPr/>
      <dgm:t>
        <a:bodyPr/>
        <a:lstStyle/>
        <a:p>
          <a:endParaRPr lang="en-US"/>
        </a:p>
      </dgm:t>
    </dgm:pt>
    <dgm:pt modelId="{2344206E-237B-4224-99BD-320DECD0F8FA}" type="sibTrans" cxnId="{76835840-C536-4B50-B916-6B06ACB6FD30}">
      <dgm:prSet/>
      <dgm:spPr/>
      <dgm:t>
        <a:bodyPr/>
        <a:lstStyle/>
        <a:p>
          <a:endParaRPr lang="en-US"/>
        </a:p>
      </dgm:t>
    </dgm:pt>
    <dgm:pt modelId="{B4DD3BF8-DB8E-4F1B-83AC-60EDCA12875F}" type="pres">
      <dgm:prSet presAssocID="{C78E5F77-0A4C-4C65-9AEA-7C23F2261B1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5D5EBA6-E346-418D-B8E1-AE69458C2967}" type="pres">
      <dgm:prSet presAssocID="{7A0CD90E-BF56-4123-BC73-B77832A31B4F}" presName="hierRoot1" presStyleCnt="0"/>
      <dgm:spPr/>
    </dgm:pt>
    <dgm:pt modelId="{0CABA707-1620-4D61-A429-AB86A5E4FA67}" type="pres">
      <dgm:prSet presAssocID="{7A0CD90E-BF56-4123-BC73-B77832A31B4F}" presName="composite" presStyleCnt="0"/>
      <dgm:spPr/>
    </dgm:pt>
    <dgm:pt modelId="{DA11445D-3D7F-4565-83B2-B58B94EA2F0D}" type="pres">
      <dgm:prSet presAssocID="{7A0CD90E-BF56-4123-BC73-B77832A31B4F}" presName="background" presStyleLbl="node0" presStyleIdx="0" presStyleCnt="3"/>
      <dgm:spPr/>
    </dgm:pt>
    <dgm:pt modelId="{F234B830-2921-4762-BA2A-EC6D73DF988F}" type="pres">
      <dgm:prSet presAssocID="{7A0CD90E-BF56-4123-BC73-B77832A31B4F}" presName="text" presStyleLbl="fgAcc0" presStyleIdx="0" presStyleCnt="3">
        <dgm:presLayoutVars>
          <dgm:chPref val="3"/>
        </dgm:presLayoutVars>
      </dgm:prSet>
      <dgm:spPr/>
    </dgm:pt>
    <dgm:pt modelId="{858CA83B-F515-4332-A484-8FF84D7D15A3}" type="pres">
      <dgm:prSet presAssocID="{7A0CD90E-BF56-4123-BC73-B77832A31B4F}" presName="hierChild2" presStyleCnt="0"/>
      <dgm:spPr/>
    </dgm:pt>
    <dgm:pt modelId="{EBE91EB8-C08B-4581-A5E2-10541D06ADA1}" type="pres">
      <dgm:prSet presAssocID="{32D94542-9D40-4376-991A-5C3FC4D8EBB9}" presName="hierRoot1" presStyleCnt="0"/>
      <dgm:spPr/>
    </dgm:pt>
    <dgm:pt modelId="{EF4E555D-4CFF-446C-90CA-D9031B951339}" type="pres">
      <dgm:prSet presAssocID="{32D94542-9D40-4376-991A-5C3FC4D8EBB9}" presName="composite" presStyleCnt="0"/>
      <dgm:spPr/>
    </dgm:pt>
    <dgm:pt modelId="{C2DC5769-7AA9-43DF-94A2-A22BD7076B9B}" type="pres">
      <dgm:prSet presAssocID="{32D94542-9D40-4376-991A-5C3FC4D8EBB9}" presName="background" presStyleLbl="node0" presStyleIdx="1" presStyleCnt="3"/>
      <dgm:spPr/>
    </dgm:pt>
    <dgm:pt modelId="{F5C7A6C8-CD30-4D45-B36A-E456A9CAB566}" type="pres">
      <dgm:prSet presAssocID="{32D94542-9D40-4376-991A-5C3FC4D8EBB9}" presName="text" presStyleLbl="fgAcc0" presStyleIdx="1" presStyleCnt="3">
        <dgm:presLayoutVars>
          <dgm:chPref val="3"/>
        </dgm:presLayoutVars>
      </dgm:prSet>
      <dgm:spPr/>
    </dgm:pt>
    <dgm:pt modelId="{2741DABA-D401-4779-8D41-CAE0338B9FCF}" type="pres">
      <dgm:prSet presAssocID="{32D94542-9D40-4376-991A-5C3FC4D8EBB9}" presName="hierChild2" presStyleCnt="0"/>
      <dgm:spPr/>
    </dgm:pt>
    <dgm:pt modelId="{01C4DC3E-12A2-4CBF-A261-BD7ECBD4D58C}" type="pres">
      <dgm:prSet presAssocID="{D0A2C137-BB8B-4F5B-B9F1-BE8D094101F0}" presName="hierRoot1" presStyleCnt="0"/>
      <dgm:spPr/>
    </dgm:pt>
    <dgm:pt modelId="{9AE180E8-272F-486D-9EA3-FABFF602EB7A}" type="pres">
      <dgm:prSet presAssocID="{D0A2C137-BB8B-4F5B-B9F1-BE8D094101F0}" presName="composite" presStyleCnt="0"/>
      <dgm:spPr/>
    </dgm:pt>
    <dgm:pt modelId="{FFDEC5A3-2C86-4A2E-BAFD-D6FA10C0BE48}" type="pres">
      <dgm:prSet presAssocID="{D0A2C137-BB8B-4F5B-B9F1-BE8D094101F0}" presName="background" presStyleLbl="node0" presStyleIdx="2" presStyleCnt="3"/>
      <dgm:spPr/>
    </dgm:pt>
    <dgm:pt modelId="{0222ACA6-3F30-44D0-80E2-5A7912FC722C}" type="pres">
      <dgm:prSet presAssocID="{D0A2C137-BB8B-4F5B-B9F1-BE8D094101F0}" presName="text" presStyleLbl="fgAcc0" presStyleIdx="2" presStyleCnt="3">
        <dgm:presLayoutVars>
          <dgm:chPref val="3"/>
        </dgm:presLayoutVars>
      </dgm:prSet>
      <dgm:spPr/>
    </dgm:pt>
    <dgm:pt modelId="{BD8D54B2-0927-4444-A084-B3A75629C4A7}" type="pres">
      <dgm:prSet presAssocID="{D0A2C137-BB8B-4F5B-B9F1-BE8D094101F0}" presName="hierChild2" presStyleCnt="0"/>
      <dgm:spPr/>
    </dgm:pt>
  </dgm:ptLst>
  <dgm:cxnLst>
    <dgm:cxn modelId="{F29D2B05-5494-4C69-A20D-BB17935EAD61}" type="presOf" srcId="{C78E5F77-0A4C-4C65-9AEA-7C23F2261B13}" destId="{B4DD3BF8-DB8E-4F1B-83AC-60EDCA12875F}" srcOrd="0" destOrd="0" presId="urn:microsoft.com/office/officeart/2005/8/layout/hierarchy1"/>
    <dgm:cxn modelId="{76835840-C536-4B50-B916-6B06ACB6FD30}" srcId="{C78E5F77-0A4C-4C65-9AEA-7C23F2261B13}" destId="{D0A2C137-BB8B-4F5B-B9F1-BE8D094101F0}" srcOrd="2" destOrd="0" parTransId="{10CE0986-E73C-4FEF-8E25-BAF21BE644DA}" sibTransId="{2344206E-237B-4224-99BD-320DECD0F8FA}"/>
    <dgm:cxn modelId="{1332E04A-AAA3-45C8-95D5-0B75FDC6FB99}" srcId="{C78E5F77-0A4C-4C65-9AEA-7C23F2261B13}" destId="{32D94542-9D40-4376-991A-5C3FC4D8EBB9}" srcOrd="1" destOrd="0" parTransId="{4BFAF2F5-3B93-4A40-96BA-6322AA6127BE}" sibTransId="{15A9E8B6-D536-492E-B373-135B3E87342A}"/>
    <dgm:cxn modelId="{4480FA7C-9E9B-42DC-A95D-E3686FB0DF3D}" type="presOf" srcId="{D0A2C137-BB8B-4F5B-B9F1-BE8D094101F0}" destId="{0222ACA6-3F30-44D0-80E2-5A7912FC722C}" srcOrd="0" destOrd="0" presId="urn:microsoft.com/office/officeart/2005/8/layout/hierarchy1"/>
    <dgm:cxn modelId="{8F2795AF-CD5A-4295-8D9A-CDAF66BEA95D}" type="presOf" srcId="{32D94542-9D40-4376-991A-5C3FC4D8EBB9}" destId="{F5C7A6C8-CD30-4D45-B36A-E456A9CAB566}" srcOrd="0" destOrd="0" presId="urn:microsoft.com/office/officeart/2005/8/layout/hierarchy1"/>
    <dgm:cxn modelId="{42A42FEB-7658-4484-BDFB-0189A1AF9B7A}" type="presOf" srcId="{7A0CD90E-BF56-4123-BC73-B77832A31B4F}" destId="{F234B830-2921-4762-BA2A-EC6D73DF988F}" srcOrd="0" destOrd="0" presId="urn:microsoft.com/office/officeart/2005/8/layout/hierarchy1"/>
    <dgm:cxn modelId="{B4FA57FD-9734-47F6-B936-B2FA7A9B9063}" srcId="{C78E5F77-0A4C-4C65-9AEA-7C23F2261B13}" destId="{7A0CD90E-BF56-4123-BC73-B77832A31B4F}" srcOrd="0" destOrd="0" parTransId="{E6547DB3-0215-45C4-A556-3173D4E3C687}" sibTransId="{7902189A-259D-44D6-9B68-F14C36CF4ADB}"/>
    <dgm:cxn modelId="{DE35CE17-FF8E-49F6-BC8B-F2042A900B82}" type="presParOf" srcId="{B4DD3BF8-DB8E-4F1B-83AC-60EDCA12875F}" destId="{65D5EBA6-E346-418D-B8E1-AE69458C2967}" srcOrd="0" destOrd="0" presId="urn:microsoft.com/office/officeart/2005/8/layout/hierarchy1"/>
    <dgm:cxn modelId="{A107C490-42C6-4D78-9DCB-328DBC3C8153}" type="presParOf" srcId="{65D5EBA6-E346-418D-B8E1-AE69458C2967}" destId="{0CABA707-1620-4D61-A429-AB86A5E4FA67}" srcOrd="0" destOrd="0" presId="urn:microsoft.com/office/officeart/2005/8/layout/hierarchy1"/>
    <dgm:cxn modelId="{0AF04005-9E57-40B5-8DE6-D2C91A76D3E2}" type="presParOf" srcId="{0CABA707-1620-4D61-A429-AB86A5E4FA67}" destId="{DA11445D-3D7F-4565-83B2-B58B94EA2F0D}" srcOrd="0" destOrd="0" presId="urn:microsoft.com/office/officeart/2005/8/layout/hierarchy1"/>
    <dgm:cxn modelId="{03148600-D6DD-47EF-9C33-CA553113204A}" type="presParOf" srcId="{0CABA707-1620-4D61-A429-AB86A5E4FA67}" destId="{F234B830-2921-4762-BA2A-EC6D73DF988F}" srcOrd="1" destOrd="0" presId="urn:microsoft.com/office/officeart/2005/8/layout/hierarchy1"/>
    <dgm:cxn modelId="{E65428A4-3F07-498A-BE94-1D78290EFC56}" type="presParOf" srcId="{65D5EBA6-E346-418D-B8E1-AE69458C2967}" destId="{858CA83B-F515-4332-A484-8FF84D7D15A3}" srcOrd="1" destOrd="0" presId="urn:microsoft.com/office/officeart/2005/8/layout/hierarchy1"/>
    <dgm:cxn modelId="{9EB43821-30A6-4D86-B9AE-AA362CAF13F7}" type="presParOf" srcId="{B4DD3BF8-DB8E-4F1B-83AC-60EDCA12875F}" destId="{EBE91EB8-C08B-4581-A5E2-10541D06ADA1}" srcOrd="1" destOrd="0" presId="urn:microsoft.com/office/officeart/2005/8/layout/hierarchy1"/>
    <dgm:cxn modelId="{FC2C9660-2CCC-4DEA-8110-06B036DC7FE9}" type="presParOf" srcId="{EBE91EB8-C08B-4581-A5E2-10541D06ADA1}" destId="{EF4E555D-4CFF-446C-90CA-D9031B951339}" srcOrd="0" destOrd="0" presId="urn:microsoft.com/office/officeart/2005/8/layout/hierarchy1"/>
    <dgm:cxn modelId="{A39A64DA-2E8C-418E-907D-48F56115BCD3}" type="presParOf" srcId="{EF4E555D-4CFF-446C-90CA-D9031B951339}" destId="{C2DC5769-7AA9-43DF-94A2-A22BD7076B9B}" srcOrd="0" destOrd="0" presId="urn:microsoft.com/office/officeart/2005/8/layout/hierarchy1"/>
    <dgm:cxn modelId="{0DD18DEB-DDFE-4355-B6D9-BA2030DC015C}" type="presParOf" srcId="{EF4E555D-4CFF-446C-90CA-D9031B951339}" destId="{F5C7A6C8-CD30-4D45-B36A-E456A9CAB566}" srcOrd="1" destOrd="0" presId="urn:microsoft.com/office/officeart/2005/8/layout/hierarchy1"/>
    <dgm:cxn modelId="{8489C2FE-A26A-4EC2-B45E-F41FE7200222}" type="presParOf" srcId="{EBE91EB8-C08B-4581-A5E2-10541D06ADA1}" destId="{2741DABA-D401-4779-8D41-CAE0338B9FCF}" srcOrd="1" destOrd="0" presId="urn:microsoft.com/office/officeart/2005/8/layout/hierarchy1"/>
    <dgm:cxn modelId="{5FCDD9A1-04F4-42FF-AB1E-9E207A28E4ED}" type="presParOf" srcId="{B4DD3BF8-DB8E-4F1B-83AC-60EDCA12875F}" destId="{01C4DC3E-12A2-4CBF-A261-BD7ECBD4D58C}" srcOrd="2" destOrd="0" presId="urn:microsoft.com/office/officeart/2005/8/layout/hierarchy1"/>
    <dgm:cxn modelId="{211E1CD2-83D4-4746-8C3C-89888E2507BA}" type="presParOf" srcId="{01C4DC3E-12A2-4CBF-A261-BD7ECBD4D58C}" destId="{9AE180E8-272F-486D-9EA3-FABFF602EB7A}" srcOrd="0" destOrd="0" presId="urn:microsoft.com/office/officeart/2005/8/layout/hierarchy1"/>
    <dgm:cxn modelId="{6A7EAF50-3305-49E7-B3B3-9CC3E6D99F7A}" type="presParOf" srcId="{9AE180E8-272F-486D-9EA3-FABFF602EB7A}" destId="{FFDEC5A3-2C86-4A2E-BAFD-D6FA10C0BE48}" srcOrd="0" destOrd="0" presId="urn:microsoft.com/office/officeart/2005/8/layout/hierarchy1"/>
    <dgm:cxn modelId="{2AE061BC-F9D5-40C0-80D7-22DACC272894}" type="presParOf" srcId="{9AE180E8-272F-486D-9EA3-FABFF602EB7A}" destId="{0222ACA6-3F30-44D0-80E2-5A7912FC722C}" srcOrd="1" destOrd="0" presId="urn:microsoft.com/office/officeart/2005/8/layout/hierarchy1"/>
    <dgm:cxn modelId="{6F1E24E9-FDA1-4178-955B-AA82173C5FC0}" type="presParOf" srcId="{01C4DC3E-12A2-4CBF-A261-BD7ECBD4D58C}" destId="{BD8D54B2-0927-4444-A084-B3A75629C4A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11445D-3D7F-4565-83B2-B58B94EA2F0D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34B830-2921-4762-BA2A-EC6D73DF988F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Aptos" panose="020B0004020202020204"/>
              <a:ea typeface="+mn-ea"/>
              <a:cs typeface="+mn-cs"/>
            </a:rPr>
            <a:t>Koja </a:t>
          </a:r>
          <a:r>
            <a:rPr lang="en-US" sz="2600" kern="1200" err="1">
              <a:latin typeface="Aptos" panose="020B0004020202020204"/>
              <a:ea typeface="+mn-ea"/>
              <a:cs typeface="+mn-cs"/>
            </a:rPr>
            <a:t>metoda</a:t>
          </a:r>
          <a:r>
            <a:rPr lang="en-US" sz="2600" kern="1200">
              <a:latin typeface="Aptos" panose="020B0004020202020204"/>
              <a:ea typeface="+mn-ea"/>
              <a:cs typeface="+mn-cs"/>
            </a:rPr>
            <a:t> </a:t>
          </a:r>
          <a:r>
            <a:rPr lang="en-US" sz="2600" kern="1200" err="1">
              <a:latin typeface="Aptos" panose="020B0004020202020204"/>
              <a:ea typeface="+mn-ea"/>
              <a:cs typeface="+mn-cs"/>
            </a:rPr>
            <a:t>najbolje</a:t>
          </a:r>
          <a:r>
            <a:rPr lang="en-US" sz="2600" kern="1200">
              <a:latin typeface="Aptos" panose="020B0004020202020204"/>
              <a:ea typeface="+mn-ea"/>
              <a:cs typeface="+mn-cs"/>
            </a:rPr>
            <a:t> </a:t>
          </a:r>
          <a:r>
            <a:rPr lang="en-US" sz="2600" kern="1200" err="1">
              <a:latin typeface="Aptos" panose="020B0004020202020204"/>
              <a:ea typeface="+mn-ea"/>
              <a:cs typeface="+mn-cs"/>
            </a:rPr>
            <a:t>balansira</a:t>
          </a:r>
          <a:r>
            <a:rPr lang="en-US" sz="2600" kern="1200">
              <a:latin typeface="Aptos" panose="020B0004020202020204"/>
              <a:ea typeface="+mn-ea"/>
              <a:cs typeface="+mn-cs"/>
            </a:rPr>
            <a:t> ID </a:t>
          </a:r>
          <a:r>
            <a:rPr lang="en-US" sz="2600" kern="1200" err="1">
              <a:latin typeface="Aptos" panose="020B0004020202020204"/>
              <a:ea typeface="+mn-ea"/>
              <a:cs typeface="+mn-cs"/>
            </a:rPr>
            <a:t>točnost</a:t>
          </a:r>
          <a:r>
            <a:rPr lang="en-US" sz="2600" kern="1200">
              <a:latin typeface="Aptos" panose="020B0004020202020204"/>
              <a:ea typeface="+mn-ea"/>
              <a:cs typeface="+mn-cs"/>
            </a:rPr>
            <a:t> </a:t>
          </a:r>
          <a:r>
            <a:rPr lang="en-US" sz="2600" kern="1200" err="1">
              <a:latin typeface="Aptos" panose="020B0004020202020204"/>
              <a:ea typeface="+mn-ea"/>
              <a:cs typeface="+mn-cs"/>
            </a:rPr>
            <a:t>i</a:t>
          </a:r>
          <a:r>
            <a:rPr lang="en-US" sz="2600" kern="1200">
              <a:latin typeface="Aptos" panose="020B0004020202020204"/>
              <a:ea typeface="+mn-ea"/>
              <a:cs typeface="+mn-cs"/>
            </a:rPr>
            <a:t> OOD </a:t>
          </a:r>
          <a:r>
            <a:rPr lang="en-US" sz="2600" kern="1200" err="1">
              <a:latin typeface="Aptos" panose="020B0004020202020204"/>
              <a:ea typeface="+mn-ea"/>
              <a:cs typeface="+mn-cs"/>
            </a:rPr>
            <a:t>detekciju</a:t>
          </a:r>
          <a:r>
            <a:rPr lang="en-US" sz="2600" kern="1200">
              <a:latin typeface="Aptos" panose="020B0004020202020204"/>
              <a:ea typeface="+mn-ea"/>
              <a:cs typeface="+mn-cs"/>
            </a:rPr>
            <a:t>?</a:t>
          </a:r>
        </a:p>
      </dsp:txBody>
      <dsp:txXfrm>
        <a:off x="378614" y="886531"/>
        <a:ext cx="2810360" cy="1744948"/>
      </dsp:txXfrm>
    </dsp:sp>
    <dsp:sp modelId="{C2DC5769-7AA9-43DF-94A2-A22BD7076B9B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C7A6C8-CD30-4D45-B36A-E456A9CAB566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Aptos"/>
              <a:ea typeface="+mn-ea"/>
              <a:cs typeface="+mn-cs"/>
            </a:rPr>
            <a:t>Koliko  primjera je </a:t>
          </a:r>
          <a:r>
            <a:rPr lang="en-US" sz="2600" kern="1200" err="1">
              <a:latin typeface="Aptos"/>
              <a:ea typeface="+mn-ea"/>
              <a:cs typeface="+mn-cs"/>
            </a:rPr>
            <a:t>potrebno</a:t>
          </a:r>
          <a:r>
            <a:rPr lang="en-US" sz="2600" kern="1200">
              <a:latin typeface="Aptos"/>
              <a:ea typeface="+mn-ea"/>
              <a:cs typeface="+mn-cs"/>
            </a:rPr>
            <a:t> da </a:t>
          </a:r>
          <a:r>
            <a:rPr lang="en-US" sz="2600" kern="1200" err="1">
              <a:latin typeface="Aptos"/>
              <a:ea typeface="+mn-ea"/>
              <a:cs typeface="+mn-cs"/>
            </a:rPr>
            <a:t>nadmašimo</a:t>
          </a:r>
          <a:r>
            <a:rPr lang="en-US" sz="2600" kern="1200">
              <a:latin typeface="Aptos"/>
              <a:ea typeface="+mn-ea"/>
              <a:cs typeface="+mn-cs"/>
            </a:rPr>
            <a:t> zero-shot?</a:t>
          </a:r>
        </a:p>
      </dsp:txBody>
      <dsp:txXfrm>
        <a:off x="3946203" y="886531"/>
        <a:ext cx="2810360" cy="1744948"/>
      </dsp:txXfrm>
    </dsp:sp>
    <dsp:sp modelId="{FFDEC5A3-2C86-4A2E-BAFD-D6FA10C0BE48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22ACA6-3F30-44D0-80E2-5A7912FC722C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latin typeface="Aptos" panose="020B0004020202020204"/>
              <a:ea typeface="+mn-ea"/>
              <a:cs typeface="+mn-cs"/>
            </a:rPr>
            <a:t>Ako </a:t>
          </a:r>
          <a:r>
            <a:rPr lang="en-US" sz="2600" kern="1200" err="1">
              <a:latin typeface="Aptos" panose="020B0004020202020204"/>
              <a:ea typeface="+mn-ea"/>
              <a:cs typeface="+mn-cs"/>
            </a:rPr>
            <a:t>neka</a:t>
          </a:r>
          <a:r>
            <a:rPr lang="en-US" sz="2600" kern="1200">
              <a:latin typeface="Aptos" panose="020B0004020202020204"/>
              <a:ea typeface="+mn-ea"/>
              <a:cs typeface="+mn-cs"/>
            </a:rPr>
            <a:t> </a:t>
          </a:r>
          <a:r>
            <a:rPr lang="en-US" sz="2600" kern="1200" err="1">
              <a:latin typeface="Aptos" panose="020B0004020202020204"/>
              <a:ea typeface="+mn-ea"/>
              <a:cs typeface="+mn-cs"/>
            </a:rPr>
            <a:t>metoda</a:t>
          </a:r>
          <a:r>
            <a:rPr lang="en-US" sz="2600" kern="1200">
              <a:latin typeface="Aptos" panose="020B0004020202020204"/>
              <a:ea typeface="+mn-ea"/>
              <a:cs typeface="+mn-cs"/>
            </a:rPr>
            <a:t> ne </a:t>
          </a:r>
          <a:r>
            <a:rPr lang="en-US" sz="2600" kern="1200" err="1">
              <a:latin typeface="Aptos" panose="020B0004020202020204"/>
              <a:ea typeface="+mn-ea"/>
              <a:cs typeface="+mn-cs"/>
            </a:rPr>
            <a:t>uspijeva</a:t>
          </a:r>
          <a:r>
            <a:rPr lang="en-US" sz="2600" kern="1200">
              <a:latin typeface="Aptos" panose="020B0004020202020204"/>
              <a:ea typeface="+mn-ea"/>
              <a:cs typeface="+mn-cs"/>
            </a:rPr>
            <a:t>, </a:t>
          </a:r>
          <a:r>
            <a:rPr lang="en-US" sz="2600" kern="1200" err="1">
              <a:latin typeface="Aptos" panose="020B0004020202020204"/>
              <a:ea typeface="+mn-ea"/>
              <a:cs typeface="+mn-cs"/>
            </a:rPr>
            <a:t>zašto</a:t>
          </a:r>
          <a:r>
            <a:rPr lang="en-US" sz="2600" kern="1200">
              <a:latin typeface="Aptos" panose="020B0004020202020204"/>
              <a:ea typeface="+mn-ea"/>
              <a:cs typeface="+mn-cs"/>
            </a:rPr>
            <a:t>?</a:t>
          </a:r>
        </a:p>
      </dsp:txBody>
      <dsp:txXfrm>
        <a:off x="7513791" y="886531"/>
        <a:ext cx="2810360" cy="1744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641116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695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63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62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7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00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535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04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0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30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76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677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ivan-skukan/DL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datasets/catalog/imagenet2012_subset" TargetMode="External"/><Relationship Id="rId2" Type="http://schemas.openxmlformats.org/officeDocument/2006/relationships/hyperlink" Target="https://medium.com/@paluchasz/understanding-openais-clip-model-6b52bade3fa3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3817" y="1808668"/>
            <a:ext cx="10182225" cy="2387600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800" err="1">
                <a:ea typeface="+mj-lt"/>
                <a:cs typeface="+mj-lt"/>
              </a:rPr>
              <a:t>Generativne</a:t>
            </a:r>
            <a:r>
              <a:rPr lang="en-US" sz="4800">
                <a:ea typeface="+mj-lt"/>
                <a:cs typeface="+mj-lt"/>
              </a:rPr>
              <a:t> </a:t>
            </a:r>
            <a:r>
              <a:rPr lang="en-US" sz="4800" err="1">
                <a:ea typeface="+mj-lt"/>
                <a:cs typeface="+mj-lt"/>
              </a:rPr>
              <a:t>glave</a:t>
            </a:r>
            <a:r>
              <a:rPr lang="en-US" sz="4800">
                <a:ea typeface="+mj-lt"/>
                <a:cs typeface="+mj-lt"/>
              </a:rPr>
              <a:t> </a:t>
            </a:r>
            <a:r>
              <a:rPr lang="en-US" sz="4800" err="1">
                <a:ea typeface="+mj-lt"/>
                <a:cs typeface="+mj-lt"/>
              </a:rPr>
              <a:t>na</a:t>
            </a:r>
            <a:r>
              <a:rPr lang="en-US" sz="4800">
                <a:ea typeface="+mj-lt"/>
                <a:cs typeface="+mj-lt"/>
              </a:rPr>
              <a:t> CLIP </a:t>
            </a:r>
            <a:r>
              <a:rPr lang="en-US" sz="4800" err="1">
                <a:ea typeface="+mj-lt"/>
                <a:cs typeface="+mj-lt"/>
              </a:rPr>
              <a:t>značajkama</a:t>
            </a:r>
            <a:r>
              <a:rPr lang="en-US" sz="4800">
                <a:ea typeface="+mj-lt"/>
                <a:cs typeface="+mj-lt"/>
              </a:rPr>
              <a:t> za </a:t>
            </a:r>
            <a:r>
              <a:rPr lang="en-US" sz="4800" err="1">
                <a:ea typeface="+mj-lt"/>
                <a:cs typeface="+mj-lt"/>
              </a:rPr>
              <a:t>klasifikaciju</a:t>
            </a:r>
            <a:r>
              <a:rPr lang="en-US" sz="4800">
                <a:ea typeface="+mj-lt"/>
                <a:cs typeface="+mj-lt"/>
              </a:rPr>
              <a:t> </a:t>
            </a:r>
            <a:br>
              <a:rPr lang="en-US" sz="4800"/>
            </a:br>
            <a:r>
              <a:rPr lang="en-US" sz="4800">
                <a:ea typeface="+mj-lt"/>
                <a:cs typeface="+mj-lt"/>
              </a:rPr>
              <a:t>s </a:t>
            </a:r>
            <a:r>
              <a:rPr lang="en-US" sz="4800" err="1">
                <a:ea typeface="+mj-lt"/>
                <a:cs typeface="+mj-lt"/>
              </a:rPr>
              <a:t>malo</a:t>
            </a:r>
            <a:r>
              <a:rPr lang="en-US" sz="4800">
                <a:ea typeface="+mj-lt"/>
                <a:cs typeface="+mj-lt"/>
              </a:rPr>
              <a:t> </a:t>
            </a:r>
            <a:r>
              <a:rPr lang="en-US" sz="4800" err="1">
                <a:ea typeface="+mj-lt"/>
                <a:cs typeface="+mj-lt"/>
              </a:rPr>
              <a:t>primjera</a:t>
            </a:r>
            <a:endParaRPr lang="en-US" sz="4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5709" y="4550753"/>
            <a:ext cx="6454291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Dominik </a:t>
            </a:r>
            <a:r>
              <a:rPr lang="en-US" sz="2400" err="1">
                <a:ea typeface="+mn-lt"/>
                <a:cs typeface="+mn-lt"/>
              </a:rPr>
              <a:t>Agejev</a:t>
            </a:r>
            <a:r>
              <a:rPr lang="en-US" sz="2400">
                <a:ea typeface="+mn-lt"/>
                <a:cs typeface="+mn-lt"/>
              </a:rPr>
              <a:t>, Ivan </a:t>
            </a:r>
            <a:r>
              <a:rPr lang="en-US" sz="2400" err="1">
                <a:ea typeface="+mn-lt"/>
                <a:cs typeface="+mn-lt"/>
              </a:rPr>
              <a:t>Skukan</a:t>
            </a:r>
            <a:r>
              <a:rPr lang="en-US" sz="2400">
                <a:ea typeface="+mn-lt"/>
                <a:cs typeface="+mn-lt"/>
              </a:rPr>
              <a:t>, Ian Marković, Lucija </a:t>
            </a:r>
            <a:r>
              <a:rPr lang="en-US" sz="2400" err="1">
                <a:ea typeface="+mn-lt"/>
                <a:cs typeface="+mn-lt"/>
              </a:rPr>
              <a:t>Petkoviček</a:t>
            </a:r>
            <a:r>
              <a:rPr lang="en-US" sz="2400">
                <a:ea typeface="+mn-lt"/>
                <a:cs typeface="+mn-lt"/>
              </a:rPr>
              <a:t>, Leonora </a:t>
            </a:r>
            <a:r>
              <a:rPr lang="en-US" sz="2400" err="1">
                <a:ea typeface="+mn-lt"/>
                <a:cs typeface="+mn-lt"/>
              </a:rPr>
              <a:t>Đemaili</a:t>
            </a:r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B6D191-6790-AEF4-2A7C-9390328E7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13777A-4A6F-31A3-703F-A18131804B42}"/>
              </a:ext>
            </a:extLst>
          </p:cNvPr>
          <p:cNvSpPr txBox="1"/>
          <p:nvPr/>
        </p:nvSpPr>
        <p:spPr>
          <a:xfrm>
            <a:off x="9949804" y="4655265"/>
            <a:ext cx="939744" cy="3794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</a:p>
        </p:txBody>
      </p:sp>
      <p:pic>
        <p:nvPicPr>
          <p:cNvPr id="6" name="Picture 5" descr="Github Logo - Free social media icons">
            <a:extLst>
              <a:ext uri="{FF2B5EF4-FFF2-40B4-BE49-F238E27FC236}">
                <a16:creationId xmlns:a16="http://schemas.microsoft.com/office/drawing/2014/main" id="{BDFFD190-6267-0AE6-3720-0BEBF09F7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1" y="4637098"/>
            <a:ext cx="404718" cy="39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EE486-D43C-0212-FA33-0A4B75710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Motivacija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F2DAD-9B90-61FD-B40F-DB835BD65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594" y="2160103"/>
            <a:ext cx="10168128" cy="4284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Kako </a:t>
            </a:r>
            <a:r>
              <a:rPr lang="en-US" err="1"/>
              <a:t>pouzdano</a:t>
            </a:r>
            <a:r>
              <a:rPr lang="en-US"/>
              <a:t> </a:t>
            </a:r>
            <a:r>
              <a:rPr lang="en-US" err="1"/>
              <a:t>klasificirati</a:t>
            </a:r>
            <a:r>
              <a:rPr lang="en-US"/>
              <a:t> </a:t>
            </a:r>
            <a:r>
              <a:rPr lang="en-US" err="1"/>
              <a:t>primjere</a:t>
            </a:r>
            <a:r>
              <a:rPr lang="en-US"/>
              <a:t> koji </a:t>
            </a:r>
            <a:r>
              <a:rPr lang="en-US" err="1"/>
              <a:t>su</a:t>
            </a:r>
            <a:r>
              <a:rPr lang="en-US"/>
              <a:t> </a:t>
            </a:r>
            <a:r>
              <a:rPr lang="en-US" err="1"/>
              <a:t>izvan</a:t>
            </a:r>
            <a:r>
              <a:rPr lang="en-US"/>
              <a:t> </a:t>
            </a:r>
            <a:r>
              <a:rPr lang="en-US" err="1"/>
              <a:t>distribucije</a:t>
            </a:r>
            <a:r>
              <a:rPr lang="en-US"/>
              <a:t> (OOD </a:t>
            </a:r>
            <a:r>
              <a:rPr lang="en-US" err="1"/>
              <a:t>primjeri</a:t>
            </a:r>
            <a:r>
              <a:rPr lang="en-US"/>
              <a:t>)?</a:t>
            </a:r>
          </a:p>
          <a:p>
            <a:r>
              <a:rPr lang="en-US" err="1"/>
              <a:t>Primjer</a:t>
            </a:r>
            <a:r>
              <a:rPr lang="en-US"/>
              <a:t>:</a:t>
            </a:r>
            <a:endParaRPr lang="en-US">
              <a:ea typeface="Calibri"/>
              <a:cs typeface="Calibri"/>
            </a:endParaRPr>
          </a:p>
          <a:p>
            <a:pPr marL="383540" lvl="1">
              <a:buFont typeface="Courier New" panose="020B0604020202020204" pitchFamily="34" charset="0"/>
              <a:buChar char="o"/>
            </a:pPr>
            <a:r>
              <a:rPr lang="en-US" sz="2000"/>
              <a:t>AI </a:t>
            </a:r>
            <a:r>
              <a:rPr lang="en-US" sz="2000" err="1"/>
              <a:t>sustav</a:t>
            </a:r>
            <a:r>
              <a:rPr lang="en-US" sz="2000"/>
              <a:t> </a:t>
            </a:r>
            <a:r>
              <a:rPr lang="en-US" sz="2000" err="1"/>
              <a:t>treniran</a:t>
            </a:r>
            <a:r>
              <a:rPr lang="en-US" sz="2000"/>
              <a:t> </a:t>
            </a:r>
            <a:r>
              <a:rPr lang="en-US" sz="2000" err="1"/>
              <a:t>na</a:t>
            </a:r>
            <a:r>
              <a:rPr lang="en-US" sz="2000"/>
              <a:t> 1000 </a:t>
            </a:r>
            <a:r>
              <a:rPr lang="en-US" sz="2000" err="1"/>
              <a:t>bolesti</a:t>
            </a:r>
            <a:r>
              <a:rPr lang="en-US" sz="2000"/>
              <a:t>, a </a:t>
            </a:r>
            <a:r>
              <a:rPr lang="en-US" sz="2000" err="1"/>
              <a:t>pacijent</a:t>
            </a:r>
            <a:r>
              <a:rPr lang="en-US" sz="2000"/>
              <a:t> </a:t>
            </a:r>
            <a:r>
              <a:rPr lang="en-US" sz="2000" err="1"/>
              <a:t>ima</a:t>
            </a:r>
            <a:r>
              <a:rPr lang="en-US" sz="2000"/>
              <a:t> </a:t>
            </a:r>
            <a:r>
              <a:rPr lang="en-US" sz="2000" err="1"/>
              <a:t>rijetku</a:t>
            </a:r>
            <a:r>
              <a:rPr lang="en-US" sz="2000"/>
              <a:t> </a:t>
            </a:r>
            <a:r>
              <a:rPr lang="en-US" sz="2000" err="1"/>
              <a:t>bolest</a:t>
            </a:r>
            <a:endParaRPr lang="en-US" sz="2000">
              <a:ea typeface="Calibri"/>
              <a:cs typeface="Calibri"/>
            </a:endParaRPr>
          </a:p>
          <a:p>
            <a:pPr marL="383540" lvl="1">
              <a:buFont typeface="Courier New" panose="020B0604020202020204" pitchFamily="34" charset="0"/>
              <a:buChar char="o"/>
            </a:pPr>
            <a:r>
              <a:rPr lang="en-US" sz="2000" err="1"/>
              <a:t>Hoće</a:t>
            </a:r>
            <a:r>
              <a:rPr lang="en-US" sz="2000"/>
              <a:t> li </a:t>
            </a:r>
            <a:r>
              <a:rPr lang="en-US" sz="2000" err="1"/>
              <a:t>sustav</a:t>
            </a:r>
            <a:r>
              <a:rPr lang="en-US" sz="2000"/>
              <a:t> </a:t>
            </a:r>
            <a:r>
              <a:rPr lang="en-US" sz="2000" err="1"/>
              <a:t>reći</a:t>
            </a:r>
            <a:r>
              <a:rPr lang="en-US" sz="2000"/>
              <a:t> "ne </a:t>
            </a:r>
            <a:r>
              <a:rPr lang="en-US" sz="2000" err="1"/>
              <a:t>znam</a:t>
            </a:r>
            <a:r>
              <a:rPr lang="en-US" sz="2000"/>
              <a:t>" </a:t>
            </a:r>
            <a:r>
              <a:rPr lang="en-US" sz="2000" err="1"/>
              <a:t>ili</a:t>
            </a:r>
            <a:r>
              <a:rPr lang="en-US" sz="2000"/>
              <a:t> </a:t>
            </a:r>
            <a:r>
              <a:rPr lang="en-US" sz="2000" err="1"/>
              <a:t>dati</a:t>
            </a:r>
            <a:r>
              <a:rPr lang="en-US" sz="2000"/>
              <a:t> </a:t>
            </a:r>
            <a:r>
              <a:rPr lang="en-US" sz="2000" err="1"/>
              <a:t>pogrešnu</a:t>
            </a:r>
            <a:r>
              <a:rPr lang="en-US" sz="2000"/>
              <a:t> </a:t>
            </a:r>
            <a:r>
              <a:rPr lang="en-US" sz="2000" err="1"/>
              <a:t>dijagnozu</a:t>
            </a:r>
            <a:r>
              <a:rPr lang="en-US" sz="2000"/>
              <a:t>?</a:t>
            </a:r>
            <a:endParaRPr lang="en-US" sz="2000">
              <a:ea typeface="Calibri"/>
              <a:cs typeface="Calibri"/>
            </a:endParaRPr>
          </a:p>
          <a:p>
            <a:r>
              <a:rPr lang="en-US" err="1"/>
              <a:t>Primjer</a:t>
            </a:r>
            <a:r>
              <a:rPr lang="en-US"/>
              <a:t>:</a:t>
            </a:r>
            <a:endParaRPr lang="en-US">
              <a:ea typeface="Calibri"/>
              <a:cs typeface="Calibri"/>
            </a:endParaRPr>
          </a:p>
          <a:p>
            <a:pPr marL="383540" lvl="1">
              <a:buFont typeface="Courier New" panose="020B0604020202020204" pitchFamily="34" charset="0"/>
              <a:buChar char="o"/>
            </a:pPr>
            <a:r>
              <a:rPr lang="en-US" sz="2000"/>
              <a:t>AI </a:t>
            </a:r>
            <a:r>
              <a:rPr lang="en-US" sz="2000" err="1"/>
              <a:t>sustav</a:t>
            </a:r>
            <a:r>
              <a:rPr lang="en-US" sz="2000"/>
              <a:t> </a:t>
            </a:r>
            <a:r>
              <a:rPr lang="en-US" sz="2000" err="1"/>
              <a:t>treniran</a:t>
            </a:r>
            <a:r>
              <a:rPr lang="en-US" sz="2000"/>
              <a:t> za </a:t>
            </a:r>
            <a:r>
              <a:rPr lang="en-US" sz="2000" err="1"/>
              <a:t>autonomnu</a:t>
            </a:r>
            <a:r>
              <a:rPr lang="en-US" sz="2000"/>
              <a:t> </a:t>
            </a:r>
            <a:r>
              <a:rPr lang="en-US" sz="2000" err="1"/>
              <a:t>vožnju</a:t>
            </a:r>
            <a:r>
              <a:rPr lang="en-US" sz="2000"/>
              <a:t> u </a:t>
            </a:r>
            <a:r>
              <a:rPr lang="en-US" sz="2000" err="1"/>
              <a:t>gradskim</a:t>
            </a:r>
            <a:r>
              <a:rPr lang="en-US" sz="2000"/>
              <a:t> </a:t>
            </a:r>
            <a:r>
              <a:rPr lang="en-US" sz="2000" err="1"/>
              <a:t>uvjetima</a:t>
            </a:r>
            <a:endParaRPr lang="en-US" sz="2000">
              <a:ea typeface="Calibri"/>
              <a:cs typeface="Calibri"/>
            </a:endParaRPr>
          </a:p>
          <a:p>
            <a:pPr marL="383540" lvl="1">
              <a:buFont typeface="Courier New" panose="020B0604020202020204" pitchFamily="34" charset="0"/>
              <a:buChar char="o"/>
            </a:pPr>
            <a:r>
              <a:rPr lang="en-US" sz="2000"/>
              <a:t>Slon </a:t>
            </a:r>
            <a:r>
              <a:rPr lang="en-US" sz="2000" err="1"/>
              <a:t>pobjegne</a:t>
            </a:r>
            <a:r>
              <a:rPr lang="en-US" sz="2000"/>
              <a:t> </a:t>
            </a:r>
            <a:r>
              <a:rPr lang="en-US" sz="2000" err="1"/>
              <a:t>iz</a:t>
            </a:r>
            <a:r>
              <a:rPr lang="en-US" sz="2000"/>
              <a:t> </a:t>
            </a:r>
            <a:r>
              <a:rPr lang="en-US" sz="2000" err="1"/>
              <a:t>zoološkog</a:t>
            </a:r>
            <a:r>
              <a:rPr lang="en-US" sz="2000"/>
              <a:t>. </a:t>
            </a:r>
            <a:r>
              <a:rPr lang="en-US" sz="2000" err="1"/>
              <a:t>Što</a:t>
            </a:r>
            <a:r>
              <a:rPr lang="en-US" sz="2000"/>
              <a:t> </a:t>
            </a:r>
            <a:r>
              <a:rPr lang="en-US" sz="2000" err="1"/>
              <a:t>će</a:t>
            </a:r>
            <a:r>
              <a:rPr lang="en-US" sz="2000"/>
              <a:t> </a:t>
            </a:r>
            <a:r>
              <a:rPr lang="en-US" sz="2000" err="1"/>
              <a:t>sustav</a:t>
            </a:r>
            <a:r>
              <a:rPr lang="en-US" sz="2000"/>
              <a:t> </a:t>
            </a:r>
            <a:r>
              <a:rPr lang="en-US" sz="2000" err="1"/>
              <a:t>zaključiti</a:t>
            </a:r>
            <a:r>
              <a:rPr lang="en-US" sz="2000"/>
              <a:t> </a:t>
            </a:r>
            <a:r>
              <a:rPr lang="en-US" sz="2000" err="1"/>
              <a:t>kad</a:t>
            </a:r>
            <a:r>
              <a:rPr lang="en-US" sz="2000"/>
              <a:t> ga </a:t>
            </a:r>
            <a:r>
              <a:rPr lang="en-US" sz="2000" err="1"/>
              <a:t>vidi</a:t>
            </a:r>
            <a:r>
              <a:rPr lang="en-US" sz="2000"/>
              <a:t>?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8E30D-67C9-9D5C-AACC-B16F3CA4B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662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38B56-7760-79BA-009B-1F47CF6C2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764" y="179881"/>
            <a:ext cx="3884570" cy="1906317"/>
          </a:xfrm>
        </p:spPr>
        <p:txBody>
          <a:bodyPr>
            <a:normAutofit/>
          </a:bodyPr>
          <a:lstStyle/>
          <a:p>
            <a:pPr algn="ctr"/>
            <a:r>
              <a:rPr lang="en-US" sz="3200" err="1"/>
              <a:t>Definicija</a:t>
            </a:r>
            <a:r>
              <a:rPr lang="en-US" sz="3200"/>
              <a:t> </a:t>
            </a:r>
            <a:r>
              <a:rPr lang="en-US" sz="3200" err="1"/>
              <a:t>problema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A89DC-1503-A2FB-BBBC-B1071C995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7660" y="2288743"/>
            <a:ext cx="6287891" cy="40674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CLIP </a:t>
            </a:r>
            <a:r>
              <a:rPr lang="en-US" sz="2000" err="1"/>
              <a:t>određuje</a:t>
            </a:r>
            <a:r>
              <a:rPr lang="en-US" sz="2000"/>
              <a:t> </a:t>
            </a:r>
            <a:r>
              <a:rPr lang="en-US" sz="2000" err="1"/>
              <a:t>koliko</a:t>
            </a:r>
            <a:r>
              <a:rPr lang="en-US" sz="2000"/>
              <a:t> je </a:t>
            </a:r>
            <a:r>
              <a:rPr lang="en-US" sz="2000" err="1"/>
              <a:t>slika</a:t>
            </a:r>
            <a:r>
              <a:rPr lang="en-US" sz="2000"/>
              <a:t> </a:t>
            </a:r>
            <a:r>
              <a:rPr lang="en-US" sz="2000" err="1"/>
              <a:t>slična</a:t>
            </a:r>
            <a:r>
              <a:rPr lang="en-US" sz="2000"/>
              <a:t> </a:t>
            </a:r>
            <a:r>
              <a:rPr lang="en-US" sz="2000" err="1"/>
              <a:t>tekstu</a:t>
            </a:r>
            <a:r>
              <a:rPr lang="en-US" sz="2000"/>
              <a:t>, </a:t>
            </a:r>
            <a:r>
              <a:rPr lang="en-US" sz="2000" err="1"/>
              <a:t>ali</a:t>
            </a:r>
            <a:r>
              <a:rPr lang="en-US" sz="2000"/>
              <a:t> ne </a:t>
            </a:r>
            <a:r>
              <a:rPr lang="en-US" sz="2000" err="1"/>
              <a:t>povlači</a:t>
            </a:r>
            <a:r>
              <a:rPr lang="en-US" sz="2000"/>
              <a:t> </a:t>
            </a:r>
            <a:r>
              <a:rPr lang="en-US" sz="2000" err="1"/>
              <a:t>granicu</a:t>
            </a:r>
            <a:r>
              <a:rPr lang="en-US" sz="2000"/>
              <a:t> </a:t>
            </a:r>
            <a:r>
              <a:rPr lang="en-US" sz="2000" err="1"/>
              <a:t>između</a:t>
            </a:r>
            <a:r>
              <a:rPr lang="en-US" sz="2000"/>
              <a:t> </a:t>
            </a:r>
            <a:r>
              <a:rPr lang="en-US" sz="2000" err="1"/>
              <a:t>poznatih</a:t>
            </a:r>
            <a:r>
              <a:rPr lang="en-US" sz="2000"/>
              <a:t> (ID) </a:t>
            </a:r>
            <a:r>
              <a:rPr lang="en-US" sz="2000" err="1"/>
              <a:t>i</a:t>
            </a:r>
            <a:r>
              <a:rPr lang="en-US" sz="2000"/>
              <a:t> </a:t>
            </a:r>
            <a:r>
              <a:rPr lang="en-US" sz="2000" err="1"/>
              <a:t>nepoznatih</a:t>
            </a:r>
            <a:r>
              <a:rPr lang="en-US" sz="2000"/>
              <a:t> (OOD) </a:t>
            </a:r>
            <a:r>
              <a:rPr lang="en-US" sz="2000" err="1"/>
              <a:t>klasa</a:t>
            </a:r>
            <a:endParaRPr lang="en-US" sz="2400" err="1"/>
          </a:p>
          <a:p>
            <a:r>
              <a:rPr lang="en-US" sz="2000" err="1"/>
              <a:t>Zato</a:t>
            </a:r>
            <a:r>
              <a:rPr lang="en-US" sz="2000"/>
              <a:t> </a:t>
            </a:r>
            <a:r>
              <a:rPr lang="en-US" sz="2000" err="1"/>
              <a:t>treniramo</a:t>
            </a:r>
            <a:r>
              <a:rPr lang="en-US" sz="2000"/>
              <a:t> </a:t>
            </a:r>
            <a:r>
              <a:rPr lang="en-US" sz="2000" err="1"/>
              <a:t>klasifikacijske</a:t>
            </a:r>
            <a:r>
              <a:rPr lang="en-US" sz="2000"/>
              <a:t> </a:t>
            </a:r>
            <a:r>
              <a:rPr lang="en-US" sz="2000" err="1"/>
              <a:t>glave</a:t>
            </a:r>
            <a:r>
              <a:rPr lang="en-US" sz="2000"/>
              <a:t> </a:t>
            </a:r>
            <a:r>
              <a:rPr lang="en-US" sz="2000" err="1"/>
              <a:t>koje</a:t>
            </a:r>
            <a:r>
              <a:rPr lang="en-US" sz="2000"/>
              <a:t> </a:t>
            </a:r>
            <a:r>
              <a:rPr lang="en-US" sz="2000" err="1"/>
              <a:t>treniramo</a:t>
            </a:r>
            <a:r>
              <a:rPr lang="en-US" sz="2000"/>
              <a:t> </a:t>
            </a:r>
            <a:r>
              <a:rPr lang="en-US" sz="2000" err="1"/>
              <a:t>na</a:t>
            </a:r>
            <a:r>
              <a:rPr lang="en-US" sz="2000"/>
              <a:t> </a:t>
            </a:r>
            <a:r>
              <a:rPr lang="en-US" sz="2000" err="1"/>
              <a:t>zamrznutom</a:t>
            </a:r>
            <a:r>
              <a:rPr lang="en-US" sz="2000"/>
              <a:t> CLIP-u</a:t>
            </a:r>
            <a:endParaRPr lang="en-US" sz="2400"/>
          </a:p>
          <a:p>
            <a:r>
              <a:rPr lang="en-US" sz="1800"/>
              <a:t>ImageNet-1k za </a:t>
            </a:r>
            <a:r>
              <a:rPr lang="en-US" sz="1800" err="1"/>
              <a:t>podatke</a:t>
            </a:r>
            <a:r>
              <a:rPr lang="en-US" sz="1800"/>
              <a:t> </a:t>
            </a:r>
            <a:r>
              <a:rPr lang="en-US" sz="1800" err="1"/>
              <a:t>iz</a:t>
            </a:r>
            <a:r>
              <a:rPr lang="en-US" sz="1800"/>
              <a:t> </a:t>
            </a:r>
            <a:r>
              <a:rPr lang="en-US" sz="1800" err="1"/>
              <a:t>distribucije</a:t>
            </a:r>
            <a:r>
              <a:rPr lang="en-US" sz="1800"/>
              <a:t> </a:t>
            </a:r>
          </a:p>
          <a:p>
            <a:r>
              <a:rPr lang="en-US" sz="1800"/>
              <a:t>ImageNet-O za </a:t>
            </a:r>
            <a:r>
              <a:rPr lang="en-US" sz="1800" err="1"/>
              <a:t>podatke</a:t>
            </a:r>
            <a:r>
              <a:rPr lang="en-US" sz="1800"/>
              <a:t> van </a:t>
            </a:r>
            <a:r>
              <a:rPr lang="en-US" sz="1800" err="1"/>
              <a:t>distribucije</a:t>
            </a:r>
            <a:r>
              <a:rPr lang="en-US" sz="1800"/>
              <a:t> (OOD)</a:t>
            </a:r>
          </a:p>
          <a:p>
            <a:r>
              <a:rPr lang="en-US" sz="1800"/>
              <a:t>K-shots (</a:t>
            </a:r>
            <a:r>
              <a:rPr lang="en-US" sz="1800" err="1"/>
              <a:t>broj</a:t>
            </a:r>
            <a:r>
              <a:rPr lang="en-US" sz="1800"/>
              <a:t> </a:t>
            </a:r>
            <a:r>
              <a:rPr lang="en-US" sz="1800" err="1"/>
              <a:t>označenih</a:t>
            </a:r>
            <a:r>
              <a:rPr lang="en-US" sz="1800"/>
              <a:t> </a:t>
            </a:r>
            <a:r>
              <a:rPr lang="en-US" sz="1800" err="1"/>
              <a:t>primjera</a:t>
            </a:r>
            <a:r>
              <a:rPr lang="en-US" sz="1800"/>
              <a:t> </a:t>
            </a:r>
            <a:r>
              <a:rPr lang="en-US" sz="1800" err="1"/>
              <a:t>klase</a:t>
            </a:r>
            <a:r>
              <a:rPr lang="en-US" sz="1800"/>
              <a:t> za </a:t>
            </a:r>
            <a:r>
              <a:rPr lang="en-US" sz="1800" err="1"/>
              <a:t>treniranje</a:t>
            </a:r>
            <a:r>
              <a:rPr lang="en-US" sz="1800"/>
              <a:t> </a:t>
            </a:r>
            <a:r>
              <a:rPr lang="en-US" sz="1800" err="1"/>
              <a:t>glave</a:t>
            </a:r>
            <a:r>
              <a:rPr lang="en-US" sz="1800"/>
              <a:t>): 0,1,2,4,8,16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213CA-56C3-E5C6-29EB-9E04967AF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5" name="Picture 4" descr="A collage of images of animals and cars&#10;&#10;AI-generated content may be incorrect.">
            <a:extLst>
              <a:ext uri="{FF2B5EF4-FFF2-40B4-BE49-F238E27FC236}">
                <a16:creationId xmlns:a16="http://schemas.microsoft.com/office/drawing/2014/main" id="{063F2691-38F1-C2C6-2148-A78FA72BFA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37" t="7873" r="5516" b="7965"/>
          <a:stretch>
            <a:fillRect/>
          </a:stretch>
        </p:blipFill>
        <p:spPr>
          <a:xfrm>
            <a:off x="444099" y="2288137"/>
            <a:ext cx="4107635" cy="4065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50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C8533-1450-4956-F8CE-E99A8721C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Što</a:t>
            </a:r>
            <a:r>
              <a:rPr lang="en-US"/>
              <a:t> je CLIP?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A39D7-3018-9339-8371-333602A55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7056"/>
            <a:ext cx="6008915" cy="4473151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/>
              <a:t>Contrastive Language-Image Pretraining</a:t>
            </a:r>
          </a:p>
          <a:p>
            <a:r>
              <a:rPr lang="en-US"/>
              <a:t>Model </a:t>
            </a:r>
            <a:r>
              <a:rPr lang="en-US" err="1"/>
              <a:t>povezuje</a:t>
            </a:r>
            <a:r>
              <a:rPr lang="en-US"/>
              <a:t> </a:t>
            </a:r>
            <a:r>
              <a:rPr lang="en-US" err="1"/>
              <a:t>slike</a:t>
            </a:r>
            <a:r>
              <a:rPr lang="en-US"/>
              <a:t> </a:t>
            </a:r>
            <a:r>
              <a:rPr lang="en-US" err="1"/>
              <a:t>i</a:t>
            </a:r>
            <a:r>
              <a:rPr lang="en-US"/>
              <a:t> </a:t>
            </a:r>
            <a:r>
              <a:rPr lang="en-US" err="1"/>
              <a:t>tekst</a:t>
            </a:r>
            <a:r>
              <a:rPr lang="en-US"/>
              <a:t> u </a:t>
            </a:r>
            <a:r>
              <a:rPr lang="en-US" err="1"/>
              <a:t>zajednički</a:t>
            </a:r>
            <a:r>
              <a:rPr lang="en-US"/>
              <a:t> </a:t>
            </a:r>
            <a:r>
              <a:rPr lang="en-US" err="1"/>
              <a:t>semantički</a:t>
            </a:r>
            <a:r>
              <a:rPr lang="en-US"/>
              <a:t> </a:t>
            </a:r>
            <a:r>
              <a:rPr lang="en-US" err="1"/>
              <a:t>prostor</a:t>
            </a:r>
            <a:r>
              <a:rPr lang="en-US"/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"A photo of a dog" -&gt; </a:t>
            </a:r>
            <a:r>
              <a:rPr lang="en-US" err="1"/>
              <a:t>blizu</a:t>
            </a:r>
            <a:r>
              <a:rPr lang="en-US"/>
              <a:t> </a:t>
            </a:r>
            <a:r>
              <a:rPr lang="en-US" err="1"/>
              <a:t>slike</a:t>
            </a:r>
            <a:r>
              <a:rPr lang="en-US"/>
              <a:t> </a:t>
            </a:r>
            <a:r>
              <a:rPr lang="en-US" err="1"/>
              <a:t>psa</a:t>
            </a:r>
            <a:r>
              <a:rPr lang="en-US"/>
              <a:t> u </a:t>
            </a:r>
            <a:r>
              <a:rPr lang="en-US" err="1"/>
              <a:t>prostoru</a:t>
            </a:r>
            <a:r>
              <a:rPr lang="en-US"/>
              <a:t> </a:t>
            </a:r>
            <a:r>
              <a:rPr lang="en-US" err="1"/>
              <a:t>ugrađivanja</a:t>
            </a:r>
            <a:endParaRPr lang="en-US"/>
          </a:p>
          <a:p>
            <a:r>
              <a:rPr lang="en-US" err="1"/>
              <a:t>Arhitektura</a:t>
            </a:r>
            <a:r>
              <a:rPr lang="en-US"/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Encoder za </a:t>
            </a:r>
            <a:r>
              <a:rPr lang="en-US" err="1"/>
              <a:t>sliku</a:t>
            </a:r>
            <a:r>
              <a:rPr lang="en-US"/>
              <a:t> </a:t>
            </a:r>
            <a:r>
              <a:rPr lang="en-US" err="1"/>
              <a:t>i</a:t>
            </a:r>
            <a:r>
              <a:rPr lang="en-US"/>
              <a:t> encoder za </a:t>
            </a:r>
            <a:r>
              <a:rPr lang="en-US" err="1"/>
              <a:t>tekst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ea typeface="+mn-lt"/>
                <a:cs typeface="+mn-lt"/>
              </a:rPr>
              <a:t>Učenje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temelju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kontrasta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ea typeface="+mn-lt"/>
                <a:cs typeface="+mn-lt"/>
              </a:rPr>
              <a:t>vektora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slike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i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teksta</a:t>
            </a:r>
            <a:endParaRPr lang="en-US">
              <a:ea typeface="+mn-lt"/>
              <a:cs typeface="+mn-lt"/>
            </a:endParaRPr>
          </a:p>
          <a:p>
            <a:r>
              <a:rPr lang="en-US" err="1"/>
              <a:t>Zašto</a:t>
            </a:r>
            <a:r>
              <a:rPr lang="en-US"/>
              <a:t> CLIP?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Predtreniran</a:t>
            </a:r>
            <a:r>
              <a:rPr lang="en-US"/>
              <a:t> </a:t>
            </a:r>
            <a:r>
              <a:rPr lang="en-US" err="1"/>
              <a:t>na</a:t>
            </a:r>
            <a:r>
              <a:rPr lang="en-US"/>
              <a:t> 400m </a:t>
            </a:r>
            <a:r>
              <a:rPr lang="en-US" err="1"/>
              <a:t>slika-tekst</a:t>
            </a:r>
            <a:r>
              <a:rPr lang="en-US"/>
              <a:t> </a:t>
            </a:r>
            <a:r>
              <a:rPr lang="en-US" err="1"/>
              <a:t>parova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Zero-shot - </a:t>
            </a:r>
            <a:r>
              <a:rPr lang="en-US" err="1"/>
              <a:t>može</a:t>
            </a:r>
            <a:r>
              <a:rPr lang="en-US"/>
              <a:t> </a:t>
            </a:r>
            <a:r>
              <a:rPr lang="en-US" err="1"/>
              <a:t>klasificirati</a:t>
            </a:r>
            <a:r>
              <a:rPr lang="en-US"/>
              <a:t> s 0 </a:t>
            </a:r>
            <a:r>
              <a:rPr lang="en-US" err="1"/>
              <a:t>primjera</a:t>
            </a:r>
            <a:r>
              <a:rPr lang="en-US"/>
              <a:t> (baseline </a:t>
            </a:r>
            <a:r>
              <a:rPr lang="en-US" err="1"/>
              <a:t>daljnje</a:t>
            </a:r>
            <a:r>
              <a:rPr lang="en-US"/>
              <a:t> </a:t>
            </a:r>
            <a:r>
              <a:rPr lang="en-US" err="1"/>
              <a:t>analize</a:t>
            </a:r>
            <a:r>
              <a:rPr lang="en-US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69E6C-575C-7A33-C5F9-D5BCD7249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FED6E43B-C2B2-0DE4-2892-BE5994165F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13" b="20783"/>
          <a:stretch>
            <a:fillRect/>
          </a:stretch>
        </p:blipFill>
        <p:spPr>
          <a:xfrm>
            <a:off x="7086332" y="521710"/>
            <a:ext cx="4166113" cy="29049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1256A5A9-D9C1-B0F2-7237-B0C2789922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333" t="1198" r="1067" b="10029"/>
          <a:stretch>
            <a:fillRect/>
          </a:stretch>
        </p:blipFill>
        <p:spPr>
          <a:xfrm>
            <a:off x="7349325" y="3426366"/>
            <a:ext cx="4048449" cy="32734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6349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97A31-0B3F-E152-6A98-9BD5F06E0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Klasifikacijske</a:t>
            </a:r>
            <a:r>
              <a:rPr lang="en-US"/>
              <a:t> </a:t>
            </a:r>
            <a:r>
              <a:rPr lang="en-US" err="1"/>
              <a:t>glave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E6BCB-C470-5067-B6BC-5CEC32D4A5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0801" y="2245891"/>
            <a:ext cx="4973084" cy="34771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/>
              <a:t>Zero-shot: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err="1"/>
              <a:t>Ugrađeni</a:t>
            </a:r>
            <a:r>
              <a:rPr lang="en-US" sz="2000"/>
              <a:t> </a:t>
            </a:r>
            <a:r>
              <a:rPr lang="en-US" sz="2000" err="1"/>
              <a:t>tekst</a:t>
            </a:r>
            <a:r>
              <a:rPr lang="en-US" sz="2000"/>
              <a:t>: "A photo of {class}" za </a:t>
            </a:r>
            <a:r>
              <a:rPr lang="en-US" sz="2000" err="1"/>
              <a:t>svih</a:t>
            </a:r>
            <a:r>
              <a:rPr lang="en-US" sz="2000"/>
              <a:t> 1000 </a:t>
            </a:r>
            <a:r>
              <a:rPr lang="en-US" sz="2000" err="1"/>
              <a:t>klasa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 err="1"/>
              <a:t>Uzimamo</a:t>
            </a:r>
            <a:r>
              <a:rPr lang="en-US" sz="2000"/>
              <a:t> </a:t>
            </a:r>
            <a:r>
              <a:rPr lang="en-US" sz="2000" err="1"/>
              <a:t>prosjek</a:t>
            </a:r>
            <a:r>
              <a:rPr lang="en-US" sz="2000"/>
              <a:t> </a:t>
            </a:r>
            <a:r>
              <a:rPr lang="en-US" sz="2000" err="1"/>
              <a:t>više</a:t>
            </a:r>
            <a:r>
              <a:rPr lang="en-US" sz="2000"/>
              <a:t> </a:t>
            </a:r>
            <a:r>
              <a:rPr lang="en-US" sz="2000" err="1"/>
              <a:t>promptova</a:t>
            </a:r>
            <a:endParaRPr lang="en-US" sz="20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/>
              <a:t>Ne </a:t>
            </a:r>
            <a:r>
              <a:rPr lang="en-US" sz="2000" err="1"/>
              <a:t>treniramo</a:t>
            </a:r>
          </a:p>
          <a:p>
            <a:pPr>
              <a:buFont typeface="Arial"/>
              <a:buChar char="•"/>
            </a:pPr>
            <a:r>
              <a:rPr lang="en-US" sz="2400" err="1"/>
              <a:t>Linearna</a:t>
            </a:r>
            <a:r>
              <a:rPr lang="en-US" sz="2400"/>
              <a:t> </a:t>
            </a:r>
            <a:r>
              <a:rPr lang="en-US" sz="2400" err="1"/>
              <a:t>glava</a:t>
            </a:r>
            <a:r>
              <a:rPr lang="en-US" sz="2400"/>
              <a:t>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000" err="1"/>
              <a:t>Regularizirani</a:t>
            </a:r>
            <a:r>
              <a:rPr lang="en-US" sz="2000"/>
              <a:t> </a:t>
            </a:r>
            <a:r>
              <a:rPr lang="en-US" sz="2000" err="1"/>
              <a:t>linearni</a:t>
            </a:r>
            <a:r>
              <a:rPr lang="en-US" sz="2000"/>
              <a:t> model </a:t>
            </a:r>
            <a:r>
              <a:rPr lang="en-US" sz="2000" err="1"/>
              <a:t>klasificira</a:t>
            </a:r>
            <a:r>
              <a:rPr lang="en-US" sz="2000"/>
              <a:t> </a:t>
            </a:r>
            <a:r>
              <a:rPr lang="en-US" sz="2000" err="1"/>
              <a:t>ugrađivanja</a:t>
            </a:r>
            <a:endParaRPr lang="en-US" sz="2000"/>
          </a:p>
          <a:p>
            <a:endParaRPr lang="en-US" sz="2400"/>
          </a:p>
          <a:p>
            <a:pPr marL="457200" lvl="1" indent="0">
              <a:buNone/>
            </a:pPr>
            <a:endParaRPr lang="en-US" sz="20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3551076-6FC0-590F-54C5-806E9C0760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6400" y="2245891"/>
            <a:ext cx="4937760" cy="348222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/>
              <a:t>Prototype </a:t>
            </a:r>
            <a:r>
              <a:rPr lang="en-US" sz="2000" b="1" err="1"/>
              <a:t>glava</a:t>
            </a:r>
            <a:r>
              <a:rPr lang="en-US" sz="2000" b="1"/>
              <a:t>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800" err="1"/>
              <a:t>Temelji</a:t>
            </a:r>
            <a:r>
              <a:rPr lang="en-US" sz="1800"/>
              <a:t> se </a:t>
            </a:r>
            <a:r>
              <a:rPr lang="en-US" sz="1800" err="1"/>
              <a:t>na</a:t>
            </a:r>
            <a:r>
              <a:rPr lang="en-US" sz="1800"/>
              <a:t> </a:t>
            </a:r>
            <a:r>
              <a:rPr lang="en-US" sz="1800" err="1"/>
              <a:t>kosinusnoj</a:t>
            </a:r>
            <a:r>
              <a:rPr lang="en-US" sz="1800"/>
              <a:t> </a:t>
            </a:r>
            <a:r>
              <a:rPr lang="en-US" sz="1800" err="1"/>
              <a:t>udaljenosti</a:t>
            </a:r>
            <a:endParaRPr lang="en-US" sz="180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800" err="1"/>
              <a:t>Klasifikacija</a:t>
            </a:r>
            <a:r>
              <a:rPr lang="en-US" sz="1800"/>
              <a:t>: </a:t>
            </a:r>
            <a:r>
              <a:rPr lang="en-US" sz="1800" err="1"/>
              <a:t>najbliži</a:t>
            </a:r>
            <a:r>
              <a:rPr lang="en-US" sz="1800"/>
              <a:t> </a:t>
            </a:r>
            <a:r>
              <a:rPr lang="en-US" sz="1800" err="1"/>
              <a:t>prototip</a:t>
            </a:r>
            <a:endParaRPr lang="en-US" sz="180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800"/>
              <a:t>OOD: </a:t>
            </a:r>
            <a:r>
              <a:rPr lang="en-US" sz="1800" err="1"/>
              <a:t>daleko</a:t>
            </a:r>
            <a:r>
              <a:rPr lang="en-US" sz="1800"/>
              <a:t> od </a:t>
            </a:r>
            <a:r>
              <a:rPr lang="en-US" sz="1800" err="1"/>
              <a:t>svih</a:t>
            </a:r>
            <a:r>
              <a:rPr lang="en-US" sz="1800"/>
              <a:t> </a:t>
            </a:r>
            <a:r>
              <a:rPr lang="en-US" sz="1800" err="1"/>
              <a:t>prototipa</a:t>
            </a:r>
            <a:endParaRPr lang="en-US" sz="1800"/>
          </a:p>
          <a:p>
            <a:pPr>
              <a:buFont typeface="Courier New,monospace" panose="020B0604020202020204" pitchFamily="34" charset="0"/>
              <a:buChar char="o"/>
            </a:pPr>
            <a:r>
              <a:rPr lang="en-US" sz="2000" b="1" err="1"/>
              <a:t>Gaussova</a:t>
            </a:r>
            <a:r>
              <a:rPr lang="en-US" sz="2000" b="1"/>
              <a:t> </a:t>
            </a:r>
            <a:r>
              <a:rPr lang="en-US" sz="2000" b="1" err="1"/>
              <a:t>glava</a:t>
            </a:r>
            <a:r>
              <a:rPr lang="en-US" sz="2000" b="1"/>
              <a:t>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800"/>
              <a:t>Za </a:t>
            </a:r>
            <a:r>
              <a:rPr lang="en-US" sz="1800" err="1"/>
              <a:t>svaku</a:t>
            </a:r>
            <a:r>
              <a:rPr lang="en-US" sz="1800"/>
              <a:t> </a:t>
            </a:r>
            <a:r>
              <a:rPr lang="en-US" sz="1800" err="1"/>
              <a:t>klasu</a:t>
            </a:r>
            <a:r>
              <a:rPr lang="en-US" sz="1800"/>
              <a:t> </a:t>
            </a:r>
            <a:r>
              <a:rPr lang="en-US" sz="1800" err="1"/>
              <a:t>učimo</a:t>
            </a:r>
            <a:r>
              <a:rPr lang="en-US" sz="1800"/>
              <a:t> </a:t>
            </a:r>
            <a:r>
              <a:rPr lang="en-US" sz="1800" err="1"/>
              <a:t>parametre</a:t>
            </a:r>
            <a:endParaRPr lang="en-US" sz="180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800" err="1"/>
              <a:t>Pretpostavljamo</a:t>
            </a:r>
            <a:r>
              <a:rPr lang="en-US" sz="1800"/>
              <a:t> </a:t>
            </a:r>
            <a:r>
              <a:rPr lang="en-US" sz="1800" err="1"/>
              <a:t>zajedničku</a:t>
            </a:r>
            <a:r>
              <a:rPr lang="en-US" sz="1800"/>
              <a:t> </a:t>
            </a:r>
            <a:r>
              <a:rPr lang="en-US" sz="1800" err="1"/>
              <a:t>kovarijacijsku</a:t>
            </a:r>
            <a:r>
              <a:rPr lang="en-US" sz="1800"/>
              <a:t> </a:t>
            </a:r>
            <a:r>
              <a:rPr lang="en-US" sz="1800" err="1"/>
              <a:t>matricu</a:t>
            </a:r>
            <a:endParaRPr lang="en-US" sz="1800"/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800"/>
              <a:t>Problem: 512x512 </a:t>
            </a:r>
            <a:r>
              <a:rPr lang="en-US" sz="1800" err="1"/>
              <a:t>parametara</a:t>
            </a:r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A5E05-F321-542D-40A5-673B576C0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39A83FE-CF5C-4DC7-4B60-A3AC4FACC789}"/>
              </a:ext>
            </a:extLst>
          </p:cNvPr>
          <p:cNvSpPr txBox="1">
            <a:spLocks/>
          </p:cNvSpPr>
          <p:nvPr/>
        </p:nvSpPr>
        <p:spPr>
          <a:xfrm>
            <a:off x="1267968" y="5925695"/>
            <a:ext cx="4937760" cy="5250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err="1">
                <a:solidFill>
                  <a:srgbClr val="F5A700"/>
                </a:solidFill>
              </a:rPr>
              <a:t>Diskriminativne</a:t>
            </a:r>
            <a:endParaRPr lang="en-US" sz="1800" b="1">
              <a:solidFill>
                <a:srgbClr val="F5A7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515621D-BEBA-6845-994F-4B35109EE057}"/>
              </a:ext>
            </a:extLst>
          </p:cNvPr>
          <p:cNvSpPr txBox="1">
            <a:spLocks/>
          </p:cNvSpPr>
          <p:nvPr/>
        </p:nvSpPr>
        <p:spPr>
          <a:xfrm>
            <a:off x="6208351" y="5925695"/>
            <a:ext cx="4937760" cy="5250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err="1">
                <a:solidFill>
                  <a:srgbClr val="F5A700"/>
                </a:solidFill>
              </a:rPr>
              <a:t>Generativne</a:t>
            </a:r>
            <a:endParaRPr lang="en-US" sz="1800" b="1">
              <a:solidFill>
                <a:srgbClr val="F5A7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71B63E1-9270-A4AE-2EE1-9C4E95835A4F}"/>
              </a:ext>
            </a:extLst>
          </p:cNvPr>
          <p:cNvCxnSpPr/>
          <p:nvPr/>
        </p:nvCxnSpPr>
        <p:spPr>
          <a:xfrm>
            <a:off x="1269510" y="5914121"/>
            <a:ext cx="9673166" cy="10964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645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B9127-FBAD-A38C-0110-F70937368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333" y="386004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Ključna pitanja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8BDB74C-269A-FE4D-1945-5921B04942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752967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27284-F43F-666F-508B-C1F8560D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63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ABCAB-183D-B9B0-CAD6-1B869A339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97" y="524924"/>
            <a:ext cx="6907650" cy="1189779"/>
          </a:xfrm>
        </p:spPr>
        <p:txBody>
          <a:bodyPr anchor="b">
            <a:normAutofit/>
          </a:bodyPr>
          <a:lstStyle/>
          <a:p>
            <a:r>
              <a:rPr lang="en-US" sz="3600"/>
              <a:t>Pregled rezultata - generalno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CC60F4-BAD5-6E1E-AA68-E6F3D3A3C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Zero-shot je </a:t>
            </a:r>
            <a:r>
              <a:rPr lang="en-US" sz="2000" err="1"/>
              <a:t>na</a:t>
            </a:r>
            <a:r>
              <a:rPr lang="en-US" sz="2000"/>
              <a:t> 58.3%</a:t>
            </a:r>
          </a:p>
          <a:p>
            <a:r>
              <a:rPr lang="en-US" sz="2000"/>
              <a:t>Gaussian </a:t>
            </a:r>
            <a:r>
              <a:rPr lang="en-US" sz="2000" err="1"/>
              <a:t>neuspješan</a:t>
            </a:r>
            <a:r>
              <a:rPr lang="en-US" sz="2000"/>
              <a:t> za OOD</a:t>
            </a:r>
          </a:p>
          <a:p>
            <a:r>
              <a:rPr lang="en-US" sz="2000"/>
              <a:t>Prototype je </a:t>
            </a:r>
            <a:r>
              <a:rPr lang="en-US" sz="2000" err="1"/>
              <a:t>najbolji</a:t>
            </a:r>
            <a:r>
              <a:rPr lang="en-US" sz="2000"/>
              <a:t> za OOD AUROC </a:t>
            </a:r>
          </a:p>
          <a:p>
            <a:r>
              <a:rPr lang="en-US" sz="2000"/>
              <a:t>Prototype je </a:t>
            </a:r>
            <a:r>
              <a:rPr lang="en-US" sz="2000" err="1"/>
              <a:t>najbolji</a:t>
            </a:r>
            <a:r>
              <a:rPr lang="en-US" sz="2000"/>
              <a:t> za FPR@95 (</a:t>
            </a:r>
            <a:r>
              <a:rPr lang="en-US" sz="2000" err="1"/>
              <a:t>Niže</a:t>
            </a:r>
            <a:r>
              <a:rPr lang="en-US" sz="2000"/>
              <a:t> je </a:t>
            </a:r>
            <a:r>
              <a:rPr lang="en-US" sz="2000" err="1"/>
              <a:t>bolje</a:t>
            </a:r>
            <a:r>
              <a:rPr lang="en-US" sz="2000"/>
              <a:t>)</a:t>
            </a:r>
          </a:p>
          <a:p>
            <a:r>
              <a:rPr lang="en-US" sz="2000"/>
              <a:t>Prototype </a:t>
            </a:r>
            <a:r>
              <a:rPr lang="en-US" sz="2000" err="1"/>
              <a:t>ima</a:t>
            </a:r>
            <a:r>
              <a:rPr lang="en-US" sz="2000"/>
              <a:t> </a:t>
            </a:r>
            <a:r>
              <a:rPr lang="en-US" sz="2000" err="1"/>
              <a:t>najbolji</a:t>
            </a:r>
            <a:r>
              <a:rPr lang="en-US" sz="2000"/>
              <a:t> trade-off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4E97F-68AD-927A-D5DA-A776257D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5F6604-3F47-E0BC-98B2-AA5C0CA65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2028825"/>
            <a:ext cx="4733925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275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1BF0B-AF2B-079B-DF28-4C1F551F3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2DCCF-43D1-0783-A0C9-7875F22FD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97" y="524924"/>
            <a:ext cx="6907650" cy="1189779"/>
          </a:xfrm>
        </p:spPr>
        <p:txBody>
          <a:bodyPr anchor="b">
            <a:normAutofit/>
          </a:bodyPr>
          <a:lstStyle/>
          <a:p>
            <a:r>
              <a:rPr lang="en-US" sz="3600"/>
              <a:t>Pregled rezultata - generalno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675235A-4D27-EE86-53D3-9DD2A2F91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Zero-shot je </a:t>
            </a:r>
            <a:r>
              <a:rPr lang="en-US" sz="2000" err="1"/>
              <a:t>na</a:t>
            </a:r>
            <a:r>
              <a:rPr lang="en-US" sz="2000"/>
              <a:t> 58.3%</a:t>
            </a:r>
          </a:p>
          <a:p>
            <a:r>
              <a:rPr lang="en-US" sz="2000"/>
              <a:t>Gaussian </a:t>
            </a:r>
            <a:r>
              <a:rPr lang="en-US" sz="2000" err="1"/>
              <a:t>neuspješan</a:t>
            </a:r>
            <a:r>
              <a:rPr lang="en-US" sz="2000"/>
              <a:t> za OOD</a:t>
            </a:r>
          </a:p>
          <a:p>
            <a:r>
              <a:rPr lang="en-US" sz="2000"/>
              <a:t>Prototype je </a:t>
            </a:r>
            <a:r>
              <a:rPr lang="en-US" sz="2000" err="1"/>
              <a:t>najbolji</a:t>
            </a:r>
            <a:r>
              <a:rPr lang="en-US" sz="2000"/>
              <a:t> za OOD AUROC </a:t>
            </a:r>
          </a:p>
          <a:p>
            <a:r>
              <a:rPr lang="en-US" sz="2000"/>
              <a:t>Prototype je </a:t>
            </a:r>
            <a:r>
              <a:rPr lang="en-US" sz="2000" err="1"/>
              <a:t>najbolji</a:t>
            </a:r>
            <a:r>
              <a:rPr lang="en-US" sz="2000"/>
              <a:t> za FPR@95 (</a:t>
            </a:r>
            <a:r>
              <a:rPr lang="en-US" sz="2000" err="1"/>
              <a:t>Niže</a:t>
            </a:r>
            <a:r>
              <a:rPr lang="en-US" sz="2000"/>
              <a:t> je </a:t>
            </a:r>
            <a:r>
              <a:rPr lang="en-US" sz="2000" err="1"/>
              <a:t>bolje</a:t>
            </a:r>
            <a:r>
              <a:rPr lang="en-US" sz="2000"/>
              <a:t>)</a:t>
            </a:r>
          </a:p>
          <a:p>
            <a:r>
              <a:rPr lang="en-US" sz="2000"/>
              <a:t>Prototype </a:t>
            </a:r>
            <a:r>
              <a:rPr lang="en-US" sz="2000" err="1"/>
              <a:t>ima</a:t>
            </a:r>
            <a:r>
              <a:rPr lang="en-US" sz="2000"/>
              <a:t> </a:t>
            </a:r>
            <a:r>
              <a:rPr lang="en-US" sz="2000" err="1"/>
              <a:t>najbolji</a:t>
            </a:r>
            <a:r>
              <a:rPr lang="en-US" sz="2000"/>
              <a:t> trade-off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D3B5E2-FFCB-F202-D6E6-95DB62480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D14D3A0E-F464-5B0A-1AE9-6AD3FC6C9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0775" y="2028825"/>
            <a:ext cx="47244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4293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63478-D872-860A-ADD5-FA5864D8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787" y="415505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3600" dirty="0" err="1"/>
              <a:t>Pregled</a:t>
            </a:r>
            <a:r>
              <a:rPr lang="en-US" sz="3600" dirty="0"/>
              <a:t> </a:t>
            </a:r>
            <a:r>
              <a:rPr lang="en-US" sz="3600" dirty="0" err="1"/>
              <a:t>rezultata</a:t>
            </a:r>
            <a:r>
              <a:rPr lang="en-US" sz="3600" dirty="0"/>
              <a:t> – zero-shot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EEFD33F-6249-2FAE-5FBC-CFAB9DFCD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033482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Zero-Shot (K=0):  58.3% accuracy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Few-Shot (K=4):   52.0% accuracy  (Prototype)</a:t>
            </a:r>
          </a:p>
          <a:p>
            <a:r>
              <a:rPr lang="en-US" sz="2000" err="1"/>
              <a:t>Idealno</a:t>
            </a:r>
            <a:r>
              <a:rPr lang="en-US" sz="2000"/>
              <a:t> bi </a:t>
            </a:r>
            <a:r>
              <a:rPr lang="en-US" sz="2000" err="1"/>
              <a:t>distribucije</a:t>
            </a:r>
            <a:r>
              <a:rPr lang="en-US" sz="2000"/>
              <a:t> bile </a:t>
            </a:r>
            <a:r>
              <a:rPr lang="en-US" sz="2000" err="1"/>
              <a:t>potpuno</a:t>
            </a:r>
            <a:r>
              <a:rPr lang="en-US" sz="2000"/>
              <a:t> </a:t>
            </a:r>
            <a:r>
              <a:rPr lang="en-US" sz="2000" err="1"/>
              <a:t>odvojene</a:t>
            </a:r>
            <a:endParaRPr lang="en-US" sz="2000"/>
          </a:p>
          <a:p>
            <a:r>
              <a:rPr lang="en-US" sz="2000"/>
              <a:t>Slaba </a:t>
            </a:r>
            <a:r>
              <a:rPr lang="en-US" sz="2000" err="1"/>
              <a:t>sigurnost</a:t>
            </a:r>
            <a:r>
              <a:rPr lang="en-US" sz="2000"/>
              <a:t>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83E4E-B8C3-7D51-3384-AAF87536E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47E6B4-AA58-85C8-85E8-3BDA82EF9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615" y="2306877"/>
            <a:ext cx="6751455" cy="4185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44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60EAF0-3CC3-13F5-E018-A3CDC5F3B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67279-F5E1-B24D-060A-F0D92C0BA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6165274" cy="1195315"/>
          </a:xfrm>
        </p:spPr>
        <p:txBody>
          <a:bodyPr anchor="b">
            <a:normAutofit/>
          </a:bodyPr>
          <a:lstStyle/>
          <a:p>
            <a:r>
              <a:rPr lang="en-US" sz="3600"/>
              <a:t>Pregled rezultata – Gaussian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3AD6D-62E4-582A-2CD4-801B5FE01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/>
              <a:t>Gaussian </a:t>
            </a:r>
            <a:r>
              <a:rPr lang="en-US" sz="1800" err="1"/>
              <a:t>daje</a:t>
            </a:r>
            <a:r>
              <a:rPr lang="en-US" sz="1800"/>
              <a:t> </a:t>
            </a:r>
            <a:r>
              <a:rPr lang="en-US" sz="1800" err="1"/>
              <a:t>najveću</a:t>
            </a:r>
            <a:r>
              <a:rPr lang="en-US" sz="1800"/>
              <a:t> ID </a:t>
            </a:r>
            <a:r>
              <a:rPr lang="en-US" sz="1800" err="1"/>
              <a:t>točnost</a:t>
            </a:r>
            <a:r>
              <a:rPr lang="en-US" sz="1800"/>
              <a:t>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400"/>
              <a:t>16 </a:t>
            </a:r>
            <a:r>
              <a:rPr lang="en-US" sz="1400" err="1"/>
              <a:t>uzoraka</a:t>
            </a:r>
            <a:r>
              <a:rPr lang="en-US" sz="1400"/>
              <a:t> po </a:t>
            </a:r>
            <a:r>
              <a:rPr lang="en-US" sz="1400" err="1"/>
              <a:t>klasi</a:t>
            </a:r>
            <a:r>
              <a:rPr lang="en-US" sz="1400"/>
              <a:t> </a:t>
            </a:r>
            <a:r>
              <a:rPr lang="en-US" sz="1400" err="1"/>
              <a:t>daje</a:t>
            </a:r>
            <a:r>
              <a:rPr lang="en-US" sz="1400"/>
              <a:t> </a:t>
            </a:r>
            <a:r>
              <a:rPr lang="en-US" sz="1400" err="1"/>
              <a:t>dovoljno</a:t>
            </a:r>
            <a:r>
              <a:rPr lang="en-US" sz="1400"/>
              <a:t> </a:t>
            </a:r>
            <a:r>
              <a:rPr lang="en-US" sz="1400" err="1"/>
              <a:t>informacije</a:t>
            </a:r>
            <a:r>
              <a:rPr lang="en-US" sz="1400"/>
              <a:t> za </a:t>
            </a:r>
            <a:r>
              <a:rPr lang="en-US" sz="1400" err="1"/>
              <a:t>procjenu</a:t>
            </a:r>
            <a:r>
              <a:rPr lang="en-US" sz="1400"/>
              <a:t> </a:t>
            </a:r>
            <a:r>
              <a:rPr lang="en-US" sz="1400" err="1"/>
              <a:t>distribucije</a:t>
            </a:r>
          </a:p>
          <a:p>
            <a:pPr>
              <a:buFont typeface="Courier New,monospace" panose="020B0604020202020204" pitchFamily="34" charset="0"/>
              <a:buChar char="o"/>
            </a:pPr>
            <a:r>
              <a:rPr lang="en-US" sz="1800"/>
              <a:t>Model je </a:t>
            </a:r>
            <a:r>
              <a:rPr lang="en-US" sz="1800" err="1"/>
              <a:t>vrlo</a:t>
            </a:r>
            <a:r>
              <a:rPr lang="en-US" sz="1800"/>
              <a:t> </a:t>
            </a:r>
            <a:r>
              <a:rPr lang="en-US" sz="1800" err="1"/>
              <a:t>siguran</a:t>
            </a:r>
            <a:r>
              <a:rPr lang="en-US" sz="1800"/>
              <a:t> u </a:t>
            </a:r>
            <a:r>
              <a:rPr lang="en-US" sz="1800" err="1"/>
              <a:t>svoje</a:t>
            </a:r>
            <a:r>
              <a:rPr lang="en-US" sz="1800"/>
              <a:t> (</a:t>
            </a:r>
            <a:r>
              <a:rPr lang="en-US" sz="1800" err="1"/>
              <a:t>često</a:t>
            </a:r>
            <a:r>
              <a:rPr lang="en-US" sz="1800"/>
              <a:t> </a:t>
            </a:r>
            <a:r>
              <a:rPr lang="en-US" sz="1800" err="1"/>
              <a:t>krive</a:t>
            </a:r>
            <a:r>
              <a:rPr lang="en-US" sz="1800"/>
              <a:t>) </a:t>
            </a:r>
            <a:r>
              <a:rPr lang="en-US" sz="1800" err="1"/>
              <a:t>predikcije</a:t>
            </a:r>
            <a:r>
              <a:rPr lang="en-US" sz="1800"/>
              <a:t> za K = 16. </a:t>
            </a:r>
          </a:p>
          <a:p>
            <a:pPr>
              <a:buFont typeface="Courier New,monospace" panose="020B0604020202020204" pitchFamily="34" charset="0"/>
              <a:buChar char="o"/>
            </a:pPr>
            <a:r>
              <a:rPr lang="en-US" sz="1800"/>
              <a:t>Skoro pa ne </a:t>
            </a:r>
            <a:r>
              <a:rPr lang="en-US" sz="1800" err="1"/>
              <a:t>razdvaja</a:t>
            </a:r>
            <a:r>
              <a:rPr lang="en-US" sz="1800"/>
              <a:t> </a:t>
            </a:r>
            <a:r>
              <a:rPr lang="en-US" sz="1800" err="1"/>
              <a:t>distribucije</a:t>
            </a:r>
          </a:p>
          <a:p>
            <a:pPr>
              <a:buFont typeface="Courier New,monospace" panose="020B0604020202020204" pitchFamily="34" charset="0"/>
              <a:buChar char="o"/>
            </a:pPr>
            <a:r>
              <a:rPr lang="en-US" sz="1800"/>
              <a:t>Za K=1 ne </a:t>
            </a:r>
            <a:r>
              <a:rPr lang="en-US" sz="1800" err="1"/>
              <a:t>razdvaja</a:t>
            </a:r>
            <a:r>
              <a:rPr lang="en-US" sz="1800"/>
              <a:t> </a:t>
            </a:r>
            <a:r>
              <a:rPr lang="en-US" sz="1800" err="1"/>
              <a:t>i</a:t>
            </a:r>
            <a:r>
              <a:rPr lang="en-US" sz="1800"/>
              <a:t> </a:t>
            </a:r>
            <a:r>
              <a:rPr lang="en-US" sz="1800" err="1"/>
              <a:t>ima</a:t>
            </a:r>
            <a:r>
              <a:rPr lang="en-US" sz="1800"/>
              <a:t> </a:t>
            </a:r>
            <a:r>
              <a:rPr lang="en-US" sz="1800" err="1"/>
              <a:t>mali</a:t>
            </a:r>
            <a:r>
              <a:rPr lang="en-US" sz="1800"/>
              <a:t> confidence (ne </a:t>
            </a:r>
            <a:r>
              <a:rPr lang="en-US" sz="1800" err="1"/>
              <a:t>zna</a:t>
            </a:r>
            <a:r>
              <a:rPr lang="en-US" sz="1800"/>
              <a:t> </a:t>
            </a:r>
            <a:r>
              <a:rPr lang="en-US" sz="1800" err="1"/>
              <a:t>što</a:t>
            </a:r>
            <a:r>
              <a:rPr lang="en-US" sz="1800"/>
              <a:t> se događa)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69F8D-3B50-AF73-7F90-8083F9478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DF914742-F847-73D5-7BE0-50DC2B1CB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174" y="2160740"/>
            <a:ext cx="6599598" cy="409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075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86DF89-1A0A-D01A-54C3-796349CD1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45A4B-3ACE-DE90-13C5-F547582B5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6165274" cy="1195315"/>
          </a:xfrm>
        </p:spPr>
        <p:txBody>
          <a:bodyPr anchor="b">
            <a:normAutofit/>
          </a:bodyPr>
          <a:lstStyle/>
          <a:p>
            <a:r>
              <a:rPr lang="en-US" sz="3600"/>
              <a:t>Pregled rezultata – Gaussian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24FF2-01B6-4E71-278B-25CFE0D42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/>
              <a:t>Gaussian </a:t>
            </a:r>
            <a:r>
              <a:rPr lang="en-US" sz="1800" err="1"/>
              <a:t>daje</a:t>
            </a:r>
            <a:r>
              <a:rPr lang="en-US" sz="1800"/>
              <a:t> </a:t>
            </a:r>
            <a:r>
              <a:rPr lang="en-US" sz="1800" err="1"/>
              <a:t>najveću</a:t>
            </a:r>
            <a:r>
              <a:rPr lang="en-US" sz="1800"/>
              <a:t> ID </a:t>
            </a:r>
            <a:r>
              <a:rPr lang="en-US" sz="1800" err="1"/>
              <a:t>točnost</a:t>
            </a:r>
            <a:r>
              <a:rPr lang="en-US" sz="1800"/>
              <a:t>: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400"/>
              <a:t>16 </a:t>
            </a:r>
            <a:r>
              <a:rPr lang="en-US" sz="1400" err="1"/>
              <a:t>uzoraka</a:t>
            </a:r>
            <a:r>
              <a:rPr lang="en-US" sz="1400"/>
              <a:t> po </a:t>
            </a:r>
            <a:r>
              <a:rPr lang="en-US" sz="1400" err="1"/>
              <a:t>klasi</a:t>
            </a:r>
            <a:r>
              <a:rPr lang="en-US" sz="1400"/>
              <a:t> </a:t>
            </a:r>
            <a:r>
              <a:rPr lang="en-US" sz="1400" err="1"/>
              <a:t>daje</a:t>
            </a:r>
            <a:r>
              <a:rPr lang="en-US" sz="1400"/>
              <a:t> </a:t>
            </a:r>
            <a:r>
              <a:rPr lang="en-US" sz="1400" err="1"/>
              <a:t>dovoljno</a:t>
            </a:r>
            <a:r>
              <a:rPr lang="en-US" sz="1400"/>
              <a:t> </a:t>
            </a:r>
            <a:r>
              <a:rPr lang="en-US" sz="1400" err="1"/>
              <a:t>informacije</a:t>
            </a:r>
            <a:r>
              <a:rPr lang="en-US" sz="1400"/>
              <a:t> za </a:t>
            </a:r>
            <a:r>
              <a:rPr lang="en-US" sz="1400" err="1"/>
              <a:t>procjenu</a:t>
            </a:r>
            <a:r>
              <a:rPr lang="en-US" sz="1400"/>
              <a:t> </a:t>
            </a:r>
            <a:r>
              <a:rPr lang="en-US" sz="1400" err="1"/>
              <a:t>distribucije</a:t>
            </a:r>
          </a:p>
          <a:p>
            <a:pPr>
              <a:buFont typeface="Courier New,monospace" panose="020B0604020202020204" pitchFamily="34" charset="0"/>
              <a:buChar char="o"/>
            </a:pPr>
            <a:r>
              <a:rPr lang="en-US" sz="1800"/>
              <a:t>Model je </a:t>
            </a:r>
            <a:r>
              <a:rPr lang="en-US" sz="1800" err="1"/>
              <a:t>vrlo</a:t>
            </a:r>
            <a:r>
              <a:rPr lang="en-US" sz="1800"/>
              <a:t> </a:t>
            </a:r>
            <a:r>
              <a:rPr lang="en-US" sz="1800" err="1"/>
              <a:t>siguran</a:t>
            </a:r>
            <a:r>
              <a:rPr lang="en-US" sz="1800"/>
              <a:t> u </a:t>
            </a:r>
            <a:r>
              <a:rPr lang="en-US" sz="1800" err="1"/>
              <a:t>svoje</a:t>
            </a:r>
            <a:r>
              <a:rPr lang="en-US" sz="1800"/>
              <a:t> (</a:t>
            </a:r>
            <a:r>
              <a:rPr lang="en-US" sz="1800" err="1"/>
              <a:t>često</a:t>
            </a:r>
            <a:r>
              <a:rPr lang="en-US" sz="1800"/>
              <a:t> </a:t>
            </a:r>
            <a:r>
              <a:rPr lang="en-US" sz="1800" err="1"/>
              <a:t>krive</a:t>
            </a:r>
            <a:r>
              <a:rPr lang="en-US" sz="1800"/>
              <a:t>) </a:t>
            </a:r>
            <a:r>
              <a:rPr lang="en-US" sz="1800" err="1"/>
              <a:t>predikcije</a:t>
            </a:r>
            <a:r>
              <a:rPr lang="en-US" sz="1800"/>
              <a:t> za K = 16. </a:t>
            </a:r>
          </a:p>
          <a:p>
            <a:pPr>
              <a:buFont typeface="Courier New,monospace" panose="020B0604020202020204" pitchFamily="34" charset="0"/>
              <a:buChar char="o"/>
            </a:pPr>
            <a:r>
              <a:rPr lang="en-US" sz="1800"/>
              <a:t>Skoro pa ne </a:t>
            </a:r>
            <a:r>
              <a:rPr lang="en-US" sz="1800" err="1"/>
              <a:t>razdvaja</a:t>
            </a:r>
            <a:r>
              <a:rPr lang="en-US" sz="1800"/>
              <a:t> </a:t>
            </a:r>
            <a:r>
              <a:rPr lang="en-US" sz="1800" err="1"/>
              <a:t>distribucije</a:t>
            </a:r>
          </a:p>
          <a:p>
            <a:pPr>
              <a:buFont typeface="Courier New,monospace" panose="020B0604020202020204" pitchFamily="34" charset="0"/>
              <a:buChar char="o"/>
            </a:pPr>
            <a:r>
              <a:rPr lang="en-US" sz="1800"/>
              <a:t>Za K=1 ne </a:t>
            </a:r>
            <a:r>
              <a:rPr lang="en-US" sz="1800" err="1"/>
              <a:t>razdvaja</a:t>
            </a:r>
            <a:r>
              <a:rPr lang="en-US" sz="1800"/>
              <a:t> </a:t>
            </a:r>
            <a:r>
              <a:rPr lang="en-US" sz="1800" err="1"/>
              <a:t>i</a:t>
            </a:r>
            <a:r>
              <a:rPr lang="en-US" sz="1800"/>
              <a:t> </a:t>
            </a:r>
            <a:r>
              <a:rPr lang="en-US" sz="1800" err="1"/>
              <a:t>ima</a:t>
            </a:r>
            <a:r>
              <a:rPr lang="en-US" sz="1800"/>
              <a:t> </a:t>
            </a:r>
            <a:r>
              <a:rPr lang="en-US" sz="1800" err="1"/>
              <a:t>mali</a:t>
            </a:r>
            <a:r>
              <a:rPr lang="en-US" sz="1800"/>
              <a:t> confidence (ne </a:t>
            </a:r>
            <a:r>
              <a:rPr lang="en-US" sz="1800" err="1"/>
              <a:t>zna</a:t>
            </a:r>
            <a:r>
              <a:rPr lang="en-US" sz="1800"/>
              <a:t> </a:t>
            </a:r>
            <a:r>
              <a:rPr lang="en-US" sz="1800" err="1"/>
              <a:t>što</a:t>
            </a:r>
            <a:r>
              <a:rPr lang="en-US" sz="1800"/>
              <a:t> se događa)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21B9ED-7C85-7D9E-09C8-9B76BD6EF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6624E5-C51A-99FE-5F40-6CF978D87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675" y="2105025"/>
            <a:ext cx="67056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0702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6F6E3-7CF2-B49A-962A-732A1BF9E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362" y="396455"/>
            <a:ext cx="10828122" cy="1313587"/>
          </a:xfrm>
        </p:spPr>
        <p:txBody>
          <a:bodyPr anchor="b">
            <a:normAutofit/>
          </a:bodyPr>
          <a:lstStyle/>
          <a:p>
            <a:r>
              <a:rPr lang="en-US" sz="3600" dirty="0" err="1"/>
              <a:t>Pregled</a:t>
            </a:r>
            <a:r>
              <a:rPr lang="en-US" sz="3600" dirty="0"/>
              <a:t> </a:t>
            </a:r>
            <a:r>
              <a:rPr lang="en-US" sz="3600" dirty="0" err="1"/>
              <a:t>rezultata</a:t>
            </a:r>
            <a:r>
              <a:rPr lang="en-US" sz="3600" dirty="0"/>
              <a:t> - Prototype (K=16)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AE35F-EE6A-18A2-2746-BA7623DF2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ID </a:t>
            </a:r>
            <a:r>
              <a:rPr lang="en-US" sz="2000" dirty="0" err="1"/>
              <a:t>točnost</a:t>
            </a:r>
            <a:r>
              <a:rPr lang="en-US" sz="2000" dirty="0"/>
              <a:t> je 62.9%</a:t>
            </a:r>
          </a:p>
          <a:p>
            <a:r>
              <a:rPr lang="en-US" sz="2000" dirty="0" err="1"/>
              <a:t>Marginalna</a:t>
            </a:r>
            <a:r>
              <a:rPr lang="en-US" sz="2000" dirty="0"/>
              <a:t> </a:t>
            </a:r>
            <a:r>
              <a:rPr lang="en-US" sz="2000" dirty="0" err="1"/>
              <a:t>ali</a:t>
            </a:r>
            <a:r>
              <a:rPr lang="en-US" sz="2000" dirty="0"/>
              <a:t> </a:t>
            </a:r>
            <a:r>
              <a:rPr lang="en-US" sz="2000" dirty="0" err="1"/>
              <a:t>konzistentna</a:t>
            </a:r>
            <a:r>
              <a:rPr lang="en-US" sz="2000" dirty="0"/>
              <a:t> </a:t>
            </a:r>
            <a:r>
              <a:rPr lang="en-US" sz="2000" dirty="0" err="1"/>
              <a:t>poboljšanja</a:t>
            </a:r>
            <a:endParaRPr lang="en-US" sz="2000" dirty="0"/>
          </a:p>
          <a:p>
            <a:r>
              <a:rPr lang="en-US" sz="2000" dirty="0" err="1"/>
              <a:t>Bolja</a:t>
            </a:r>
            <a:r>
              <a:rPr lang="en-US" sz="2000" dirty="0"/>
              <a:t> OOD </a:t>
            </a:r>
            <a:r>
              <a:rPr lang="en-US" sz="2000" dirty="0" err="1"/>
              <a:t>detekcija</a:t>
            </a:r>
            <a:r>
              <a:rPr lang="en-US" sz="2000" dirty="0"/>
              <a:t> – </a:t>
            </a:r>
            <a:r>
              <a:rPr lang="en-US" sz="2000" dirty="0" err="1"/>
              <a:t>distribucije</a:t>
            </a:r>
            <a:r>
              <a:rPr lang="en-US" sz="2000" dirty="0"/>
              <a:t> </a:t>
            </a:r>
            <a:r>
              <a:rPr lang="en-US" sz="2000" dirty="0" err="1"/>
              <a:t>malo</a:t>
            </a:r>
            <a:r>
              <a:rPr lang="en-US" sz="2000" dirty="0"/>
              <a:t> </a:t>
            </a:r>
            <a:r>
              <a:rPr lang="en-US" sz="2000" dirty="0" err="1"/>
              <a:t>udaljenije</a:t>
            </a:r>
          </a:p>
          <a:p>
            <a:r>
              <a:rPr lang="en-US" sz="2000" dirty="0" err="1"/>
              <a:t>Još</a:t>
            </a:r>
            <a:r>
              <a:rPr lang="en-US" sz="2000" dirty="0"/>
              <a:t> </a:t>
            </a:r>
            <a:r>
              <a:rPr lang="en-US" sz="2000" dirty="0" err="1"/>
              <a:t>uvijek</a:t>
            </a:r>
            <a:r>
              <a:rPr lang="en-US" sz="2000" dirty="0"/>
              <a:t> je </a:t>
            </a:r>
            <a:r>
              <a:rPr lang="en-US" sz="2000" dirty="0" err="1"/>
              <a:t>veliko</a:t>
            </a:r>
            <a:r>
              <a:rPr lang="en-US" sz="2000" dirty="0"/>
              <a:t> </a:t>
            </a:r>
            <a:r>
              <a:rPr lang="en-US" sz="2000" dirty="0" err="1"/>
              <a:t>preklapanje</a:t>
            </a:r>
            <a:r>
              <a:rPr lang="en-US" sz="2000" dirty="0"/>
              <a:t> </a:t>
            </a:r>
            <a:r>
              <a:rPr lang="en-US" sz="2000" dirty="0" err="1"/>
              <a:t>i</a:t>
            </a:r>
            <a:r>
              <a:rPr lang="en-US" sz="2000" dirty="0"/>
              <a:t> mala </a:t>
            </a:r>
            <a:r>
              <a:rPr lang="en-US" sz="2000" dirty="0" err="1"/>
              <a:t>sigurnost</a:t>
            </a:r>
            <a:r>
              <a:rPr lang="en-US" sz="2000" dirty="0"/>
              <a:t>!</a:t>
            </a:r>
          </a:p>
          <a:p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48C7E5-2A98-9E24-A9A9-B5C5EB49D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049698-B888-FEED-EB65-D6B868D21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803" y="2295525"/>
            <a:ext cx="608492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706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26296-C9CA-5B23-BDEC-D70B6473C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Sažetak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75827-DA97-3368-9666-45E8EC2E6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/>
              <a:t>Prototype </a:t>
            </a:r>
            <a:r>
              <a:rPr lang="en-US" err="1"/>
              <a:t>glava</a:t>
            </a:r>
            <a:r>
              <a:rPr lang="en-US"/>
              <a:t> </a:t>
            </a:r>
            <a:r>
              <a:rPr lang="en-US" err="1"/>
              <a:t>jedina</a:t>
            </a:r>
            <a:r>
              <a:rPr lang="en-US"/>
              <a:t> </a:t>
            </a:r>
            <a:r>
              <a:rPr lang="en-US" err="1"/>
              <a:t>nadmašuje</a:t>
            </a:r>
            <a:r>
              <a:rPr lang="en-US"/>
              <a:t> zero-shot </a:t>
            </a:r>
            <a:r>
              <a:rPr lang="en-US" err="1"/>
              <a:t>uz</a:t>
            </a:r>
            <a:r>
              <a:rPr lang="en-US"/>
              <a:t> K&gt;=8</a:t>
            </a:r>
          </a:p>
          <a:p>
            <a:r>
              <a:rPr lang="en-US"/>
              <a:t>Mali confidence se </a:t>
            </a:r>
            <a:r>
              <a:rPr lang="en-US" err="1"/>
              <a:t>vjerojatno</a:t>
            </a:r>
            <a:r>
              <a:rPr lang="en-US"/>
              <a:t> </a:t>
            </a:r>
            <a:r>
              <a:rPr lang="en-US" err="1"/>
              <a:t>pojavljuje</a:t>
            </a:r>
            <a:r>
              <a:rPr lang="en-US"/>
              <a:t> </a:t>
            </a:r>
            <a:r>
              <a:rPr lang="en-US" err="1"/>
              <a:t>zbog</a:t>
            </a:r>
            <a:r>
              <a:rPr lang="en-US"/>
              <a:t> </a:t>
            </a:r>
            <a:r>
              <a:rPr lang="en-US" err="1"/>
              <a:t>velikog</a:t>
            </a:r>
            <a:r>
              <a:rPr lang="en-US"/>
              <a:t> </a:t>
            </a:r>
            <a:r>
              <a:rPr lang="en-US" err="1"/>
              <a:t>broja</a:t>
            </a:r>
            <a:r>
              <a:rPr lang="en-US"/>
              <a:t> </a:t>
            </a:r>
            <a:r>
              <a:rPr lang="en-US" err="1"/>
              <a:t>klasa</a:t>
            </a:r>
            <a:r>
              <a:rPr lang="en-US"/>
              <a:t> (ImageNet je </a:t>
            </a:r>
            <a:r>
              <a:rPr lang="en-US" err="1"/>
              <a:t>težak</a:t>
            </a:r>
            <a:r>
              <a:rPr lang="en-US"/>
              <a:t>)</a:t>
            </a:r>
          </a:p>
          <a:p>
            <a:r>
              <a:rPr lang="en-US"/>
              <a:t>Gaussian: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K=1 – </a:t>
            </a:r>
            <a:r>
              <a:rPr lang="en-US" err="1"/>
              <a:t>Prokletstvo</a:t>
            </a:r>
            <a:r>
              <a:rPr lang="en-US"/>
              <a:t> </a:t>
            </a:r>
            <a:r>
              <a:rPr lang="en-US" err="1"/>
              <a:t>dimenzionalnosti</a:t>
            </a:r>
            <a:r>
              <a:rPr lang="en-US"/>
              <a:t> (262k </a:t>
            </a:r>
            <a:r>
              <a:rPr lang="en-US" err="1"/>
              <a:t>parametara</a:t>
            </a:r>
            <a:r>
              <a:rPr lang="en-US"/>
              <a:t>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K&gt;1 – Jaka </a:t>
            </a:r>
            <a:r>
              <a:rPr lang="en-US" err="1"/>
              <a:t>samouvjerenost</a:t>
            </a:r>
            <a:r>
              <a:rPr lang="en-US"/>
              <a:t> - </a:t>
            </a:r>
            <a:r>
              <a:rPr lang="en-US" err="1"/>
              <a:t>misli</a:t>
            </a:r>
            <a:r>
              <a:rPr lang="en-US"/>
              <a:t> da je </a:t>
            </a:r>
            <a:r>
              <a:rPr lang="en-US" err="1"/>
              <a:t>sve</a:t>
            </a:r>
            <a:r>
              <a:rPr lang="en-US"/>
              <a:t> </a:t>
            </a:r>
            <a:r>
              <a:rPr lang="en-US" err="1"/>
              <a:t>sigurno</a:t>
            </a:r>
            <a:r>
              <a:rPr lang="en-US"/>
              <a:t> ImageNet-1k</a:t>
            </a:r>
          </a:p>
          <a:p>
            <a:r>
              <a:rPr lang="en-US"/>
              <a:t>Linear probe: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Lošiji</a:t>
            </a:r>
            <a:r>
              <a:rPr lang="en-US"/>
              <a:t> </a:t>
            </a:r>
            <a:r>
              <a:rPr lang="en-US" err="1"/>
              <a:t>rezultati</a:t>
            </a:r>
            <a:r>
              <a:rPr lang="en-US"/>
              <a:t> od zero-shot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Unakrsna</a:t>
            </a:r>
            <a:r>
              <a:rPr lang="en-US"/>
              <a:t> </a:t>
            </a:r>
            <a:r>
              <a:rPr lang="en-US" err="1"/>
              <a:t>entropija</a:t>
            </a:r>
            <a:r>
              <a:rPr lang="en-US"/>
              <a:t> </a:t>
            </a:r>
            <a:r>
              <a:rPr lang="en-US" err="1"/>
              <a:t>optimizira</a:t>
            </a:r>
            <a:r>
              <a:rPr lang="en-US"/>
              <a:t> </a:t>
            </a:r>
            <a:r>
              <a:rPr lang="en-US" err="1"/>
              <a:t>točnost</a:t>
            </a:r>
            <a:r>
              <a:rPr lang="en-US"/>
              <a:t>, a </a:t>
            </a:r>
            <a:r>
              <a:rPr lang="en-US" err="1"/>
              <a:t>ne</a:t>
            </a:r>
            <a:r>
              <a:rPr lang="en-US"/>
              <a:t> </a:t>
            </a:r>
            <a:r>
              <a:rPr lang="en-US" err="1"/>
              <a:t>sigurnost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3027E-ADC8-4EAF-96AB-21133FE92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46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CD3EE-0F73-4EB0-D44C-CC9F1A652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Hvala </a:t>
            </a:r>
            <a:r>
              <a:rPr lang="en-US" err="1"/>
              <a:t>na</a:t>
            </a:r>
            <a:r>
              <a:rPr lang="en-US"/>
              <a:t> </a:t>
            </a:r>
            <a:r>
              <a:rPr lang="en-US" err="1"/>
              <a:t>pažnji</a:t>
            </a:r>
            <a:r>
              <a:rPr lang="en-US"/>
              <a:t>!  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30F2B-4335-33E9-722C-213E43EB7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Pitanja</a:t>
            </a:r>
            <a:r>
              <a:rPr lang="en-US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6EC20-E12A-77F1-536C-8EDF6F07F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0591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9B94E-C07F-BDE9-EE56-54D2F17F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Izvori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754EB-D0AE-5222-191A-9DCA1FA9F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CLIP </a:t>
            </a:r>
            <a:r>
              <a:rPr lang="en-US" err="1"/>
              <a:t>slike</a:t>
            </a:r>
            <a:r>
              <a:rPr lang="en-US"/>
              <a:t>: </a:t>
            </a:r>
            <a:r>
              <a:rPr lang="en-US">
                <a:ea typeface="+mn-lt"/>
                <a:cs typeface="+mn-lt"/>
                <a:hlinkClick r:id="rId2"/>
              </a:rPr>
              <a:t>https://medium.com/@paluchasz/understanding-openais-clip-model-6b52bade3fa3</a:t>
            </a:r>
            <a:r>
              <a:rPr lang="en-US">
                <a:ea typeface="+mn-lt"/>
                <a:cs typeface="+mn-lt"/>
              </a:rPr>
              <a:t> </a:t>
            </a:r>
          </a:p>
          <a:p>
            <a:r>
              <a:rPr lang="en-US"/>
              <a:t>ImageNet </a:t>
            </a:r>
            <a:r>
              <a:rPr lang="en-US" err="1"/>
              <a:t>slika</a:t>
            </a:r>
            <a:r>
              <a:rPr lang="en-US"/>
              <a:t>: </a:t>
            </a:r>
            <a:r>
              <a:rPr lang="en-US">
                <a:ea typeface="+mn-lt"/>
                <a:cs typeface="+mn-lt"/>
                <a:hlinkClick r:id="rId3"/>
              </a:rPr>
              <a:t>https://www.tensorflow.org/datasets/catalog/imagenet2012_subset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F9CAB-D95D-F067-8101-0633A7812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887369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AccentBoxVTI</vt:lpstr>
      <vt:lpstr>Generativne glave na CLIP značajkama za klasifikaciju  s malo primjera</vt:lpstr>
      <vt:lpstr>Motivacija</vt:lpstr>
      <vt:lpstr>Definicija problema</vt:lpstr>
      <vt:lpstr>Što je CLIP?</vt:lpstr>
      <vt:lpstr>Klasifikacijske glave</vt:lpstr>
      <vt:lpstr>Ključna pitanja</vt:lpstr>
      <vt:lpstr>Pregled rezultata - generalno</vt:lpstr>
      <vt:lpstr>Pregled rezultata - generalno</vt:lpstr>
      <vt:lpstr>Pregled rezultata – zero-shot</vt:lpstr>
      <vt:lpstr>Pregled rezultata – Gaussian</vt:lpstr>
      <vt:lpstr>Pregled rezultata – Gaussian</vt:lpstr>
      <vt:lpstr>Pregled rezultata - Prototype (K=16)</vt:lpstr>
      <vt:lpstr>Sažetak</vt:lpstr>
      <vt:lpstr>Hvala na pažnji!  </vt:lpstr>
      <vt:lpstr>Izvori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32</cp:revision>
  <dcterms:created xsi:type="dcterms:W3CDTF">2026-01-18T09:38:07Z</dcterms:created>
  <dcterms:modified xsi:type="dcterms:W3CDTF">2026-01-18T17:51:54Z</dcterms:modified>
</cp:coreProperties>
</file>
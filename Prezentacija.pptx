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58" r:id="rId5"/>
    <p:sldId id="262" r:id="rId6"/>
    <p:sldId id="259" r:id="rId7"/>
    <p:sldId id="260" r:id="rId8"/>
    <p:sldId id="263" r:id="rId9"/>
    <p:sldId id="265" r:id="rId10"/>
    <p:sldId id="267" r:id="rId11"/>
    <p:sldId id="268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8DF14D-C219-19AA-DBBC-CECEE9397FD4}" v="1114" dt="2026-01-18T13:06:12.546"/>
    <p1510:client id="{BA4FF2CC-AE29-4D2F-F33C-6FB469838AA2}" v="238" dt="2026-01-18T13:51:04.493"/>
    <p1510:client id="{E3957A01-8668-78D6-BE27-082A552397E6}" v="677" dt="2026-01-18T13:55:59.7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78E5F77-0A4C-4C65-9AEA-7C23F2261B13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A0CD90E-BF56-4123-BC73-B77832A31B4F}">
      <dgm:prSet/>
      <dgm:spPr/>
      <dgm:t>
        <a:bodyPr/>
        <a:lstStyle/>
        <a:p>
          <a:r>
            <a:rPr lang="en-US"/>
            <a:t>Koja metoda najbolje balansira ID točnost i OOD detekciju?</a:t>
          </a:r>
        </a:p>
      </dgm:t>
    </dgm:pt>
    <dgm:pt modelId="{E6547DB3-0215-45C4-A556-3173D4E3C687}" type="parTrans" cxnId="{B4FA57FD-9734-47F6-B936-B2FA7A9B9063}">
      <dgm:prSet/>
      <dgm:spPr/>
      <dgm:t>
        <a:bodyPr/>
        <a:lstStyle/>
        <a:p>
          <a:endParaRPr lang="en-US"/>
        </a:p>
      </dgm:t>
    </dgm:pt>
    <dgm:pt modelId="{7902189A-259D-44D6-9B68-F14C36CF4ADB}" type="sibTrans" cxnId="{B4FA57FD-9734-47F6-B936-B2FA7A9B9063}">
      <dgm:prSet/>
      <dgm:spPr/>
      <dgm:t>
        <a:bodyPr/>
        <a:lstStyle/>
        <a:p>
          <a:endParaRPr lang="en-US"/>
        </a:p>
      </dgm:t>
    </dgm:pt>
    <dgm:pt modelId="{32D94542-9D40-4376-991A-5C3FC4D8EBB9}">
      <dgm:prSet/>
      <dgm:spPr/>
      <dgm:t>
        <a:bodyPr/>
        <a:lstStyle/>
        <a:p>
          <a:r>
            <a:rPr lang="en-US"/>
            <a:t>Koliko shotova je potrebno da nadmašimo zero-shot?</a:t>
          </a:r>
        </a:p>
      </dgm:t>
    </dgm:pt>
    <dgm:pt modelId="{4BFAF2F5-3B93-4A40-96BA-6322AA6127BE}" type="parTrans" cxnId="{1332E04A-AAA3-45C8-95D5-0B75FDC6FB99}">
      <dgm:prSet/>
      <dgm:spPr/>
      <dgm:t>
        <a:bodyPr/>
        <a:lstStyle/>
        <a:p>
          <a:endParaRPr lang="en-US"/>
        </a:p>
      </dgm:t>
    </dgm:pt>
    <dgm:pt modelId="{15A9E8B6-D536-492E-B373-135B3E87342A}" type="sibTrans" cxnId="{1332E04A-AAA3-45C8-95D5-0B75FDC6FB99}">
      <dgm:prSet/>
      <dgm:spPr/>
      <dgm:t>
        <a:bodyPr/>
        <a:lstStyle/>
        <a:p>
          <a:endParaRPr lang="en-US"/>
        </a:p>
      </dgm:t>
    </dgm:pt>
    <dgm:pt modelId="{D0A2C137-BB8B-4F5B-B9F1-BE8D094101F0}">
      <dgm:prSet/>
      <dgm:spPr/>
      <dgm:t>
        <a:bodyPr/>
        <a:lstStyle/>
        <a:p>
          <a:r>
            <a:rPr lang="en-US"/>
            <a:t>Ako neka metoda ne uspijeva, zašto?</a:t>
          </a:r>
        </a:p>
      </dgm:t>
    </dgm:pt>
    <dgm:pt modelId="{10CE0986-E73C-4FEF-8E25-BAF21BE644DA}" type="parTrans" cxnId="{76835840-C536-4B50-B916-6B06ACB6FD30}">
      <dgm:prSet/>
      <dgm:spPr/>
      <dgm:t>
        <a:bodyPr/>
        <a:lstStyle/>
        <a:p>
          <a:endParaRPr lang="en-US"/>
        </a:p>
      </dgm:t>
    </dgm:pt>
    <dgm:pt modelId="{2344206E-237B-4224-99BD-320DECD0F8FA}" type="sibTrans" cxnId="{76835840-C536-4B50-B916-6B06ACB6FD30}">
      <dgm:prSet/>
      <dgm:spPr/>
      <dgm:t>
        <a:bodyPr/>
        <a:lstStyle/>
        <a:p>
          <a:endParaRPr lang="en-US"/>
        </a:p>
      </dgm:t>
    </dgm:pt>
    <dgm:pt modelId="{B4DD3BF8-DB8E-4F1B-83AC-60EDCA12875F}" type="pres">
      <dgm:prSet presAssocID="{C78E5F77-0A4C-4C65-9AEA-7C23F2261B1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5D5EBA6-E346-418D-B8E1-AE69458C2967}" type="pres">
      <dgm:prSet presAssocID="{7A0CD90E-BF56-4123-BC73-B77832A31B4F}" presName="hierRoot1" presStyleCnt="0"/>
      <dgm:spPr/>
    </dgm:pt>
    <dgm:pt modelId="{0CABA707-1620-4D61-A429-AB86A5E4FA67}" type="pres">
      <dgm:prSet presAssocID="{7A0CD90E-BF56-4123-BC73-B77832A31B4F}" presName="composite" presStyleCnt="0"/>
      <dgm:spPr/>
    </dgm:pt>
    <dgm:pt modelId="{DA11445D-3D7F-4565-83B2-B58B94EA2F0D}" type="pres">
      <dgm:prSet presAssocID="{7A0CD90E-BF56-4123-BC73-B77832A31B4F}" presName="background" presStyleLbl="node0" presStyleIdx="0" presStyleCnt="3"/>
      <dgm:spPr/>
    </dgm:pt>
    <dgm:pt modelId="{F234B830-2921-4762-BA2A-EC6D73DF988F}" type="pres">
      <dgm:prSet presAssocID="{7A0CD90E-BF56-4123-BC73-B77832A31B4F}" presName="text" presStyleLbl="fgAcc0" presStyleIdx="0" presStyleCnt="3">
        <dgm:presLayoutVars>
          <dgm:chPref val="3"/>
        </dgm:presLayoutVars>
      </dgm:prSet>
      <dgm:spPr/>
    </dgm:pt>
    <dgm:pt modelId="{858CA83B-F515-4332-A484-8FF84D7D15A3}" type="pres">
      <dgm:prSet presAssocID="{7A0CD90E-BF56-4123-BC73-B77832A31B4F}" presName="hierChild2" presStyleCnt="0"/>
      <dgm:spPr/>
    </dgm:pt>
    <dgm:pt modelId="{EBE91EB8-C08B-4581-A5E2-10541D06ADA1}" type="pres">
      <dgm:prSet presAssocID="{32D94542-9D40-4376-991A-5C3FC4D8EBB9}" presName="hierRoot1" presStyleCnt="0"/>
      <dgm:spPr/>
    </dgm:pt>
    <dgm:pt modelId="{EF4E555D-4CFF-446C-90CA-D9031B951339}" type="pres">
      <dgm:prSet presAssocID="{32D94542-9D40-4376-991A-5C3FC4D8EBB9}" presName="composite" presStyleCnt="0"/>
      <dgm:spPr/>
    </dgm:pt>
    <dgm:pt modelId="{C2DC5769-7AA9-43DF-94A2-A22BD7076B9B}" type="pres">
      <dgm:prSet presAssocID="{32D94542-9D40-4376-991A-5C3FC4D8EBB9}" presName="background" presStyleLbl="node0" presStyleIdx="1" presStyleCnt="3"/>
      <dgm:spPr/>
    </dgm:pt>
    <dgm:pt modelId="{F5C7A6C8-CD30-4D45-B36A-E456A9CAB566}" type="pres">
      <dgm:prSet presAssocID="{32D94542-9D40-4376-991A-5C3FC4D8EBB9}" presName="text" presStyleLbl="fgAcc0" presStyleIdx="1" presStyleCnt="3">
        <dgm:presLayoutVars>
          <dgm:chPref val="3"/>
        </dgm:presLayoutVars>
      </dgm:prSet>
      <dgm:spPr/>
    </dgm:pt>
    <dgm:pt modelId="{2741DABA-D401-4779-8D41-CAE0338B9FCF}" type="pres">
      <dgm:prSet presAssocID="{32D94542-9D40-4376-991A-5C3FC4D8EBB9}" presName="hierChild2" presStyleCnt="0"/>
      <dgm:spPr/>
    </dgm:pt>
    <dgm:pt modelId="{01C4DC3E-12A2-4CBF-A261-BD7ECBD4D58C}" type="pres">
      <dgm:prSet presAssocID="{D0A2C137-BB8B-4F5B-B9F1-BE8D094101F0}" presName="hierRoot1" presStyleCnt="0"/>
      <dgm:spPr/>
    </dgm:pt>
    <dgm:pt modelId="{9AE180E8-272F-486D-9EA3-FABFF602EB7A}" type="pres">
      <dgm:prSet presAssocID="{D0A2C137-BB8B-4F5B-B9F1-BE8D094101F0}" presName="composite" presStyleCnt="0"/>
      <dgm:spPr/>
    </dgm:pt>
    <dgm:pt modelId="{FFDEC5A3-2C86-4A2E-BAFD-D6FA10C0BE48}" type="pres">
      <dgm:prSet presAssocID="{D0A2C137-BB8B-4F5B-B9F1-BE8D094101F0}" presName="background" presStyleLbl="node0" presStyleIdx="2" presStyleCnt="3"/>
      <dgm:spPr/>
    </dgm:pt>
    <dgm:pt modelId="{0222ACA6-3F30-44D0-80E2-5A7912FC722C}" type="pres">
      <dgm:prSet presAssocID="{D0A2C137-BB8B-4F5B-B9F1-BE8D094101F0}" presName="text" presStyleLbl="fgAcc0" presStyleIdx="2" presStyleCnt="3">
        <dgm:presLayoutVars>
          <dgm:chPref val="3"/>
        </dgm:presLayoutVars>
      </dgm:prSet>
      <dgm:spPr/>
    </dgm:pt>
    <dgm:pt modelId="{BD8D54B2-0927-4444-A084-B3A75629C4A7}" type="pres">
      <dgm:prSet presAssocID="{D0A2C137-BB8B-4F5B-B9F1-BE8D094101F0}" presName="hierChild2" presStyleCnt="0"/>
      <dgm:spPr/>
    </dgm:pt>
  </dgm:ptLst>
  <dgm:cxnLst>
    <dgm:cxn modelId="{F29D2B05-5494-4C69-A20D-BB17935EAD61}" type="presOf" srcId="{C78E5F77-0A4C-4C65-9AEA-7C23F2261B13}" destId="{B4DD3BF8-DB8E-4F1B-83AC-60EDCA12875F}" srcOrd="0" destOrd="0" presId="urn:microsoft.com/office/officeart/2005/8/layout/hierarchy1"/>
    <dgm:cxn modelId="{76835840-C536-4B50-B916-6B06ACB6FD30}" srcId="{C78E5F77-0A4C-4C65-9AEA-7C23F2261B13}" destId="{D0A2C137-BB8B-4F5B-B9F1-BE8D094101F0}" srcOrd="2" destOrd="0" parTransId="{10CE0986-E73C-4FEF-8E25-BAF21BE644DA}" sibTransId="{2344206E-237B-4224-99BD-320DECD0F8FA}"/>
    <dgm:cxn modelId="{1332E04A-AAA3-45C8-95D5-0B75FDC6FB99}" srcId="{C78E5F77-0A4C-4C65-9AEA-7C23F2261B13}" destId="{32D94542-9D40-4376-991A-5C3FC4D8EBB9}" srcOrd="1" destOrd="0" parTransId="{4BFAF2F5-3B93-4A40-96BA-6322AA6127BE}" sibTransId="{15A9E8B6-D536-492E-B373-135B3E87342A}"/>
    <dgm:cxn modelId="{4480FA7C-9E9B-42DC-A95D-E3686FB0DF3D}" type="presOf" srcId="{D0A2C137-BB8B-4F5B-B9F1-BE8D094101F0}" destId="{0222ACA6-3F30-44D0-80E2-5A7912FC722C}" srcOrd="0" destOrd="0" presId="urn:microsoft.com/office/officeart/2005/8/layout/hierarchy1"/>
    <dgm:cxn modelId="{8F2795AF-CD5A-4295-8D9A-CDAF66BEA95D}" type="presOf" srcId="{32D94542-9D40-4376-991A-5C3FC4D8EBB9}" destId="{F5C7A6C8-CD30-4D45-B36A-E456A9CAB566}" srcOrd="0" destOrd="0" presId="urn:microsoft.com/office/officeart/2005/8/layout/hierarchy1"/>
    <dgm:cxn modelId="{42A42FEB-7658-4484-BDFB-0189A1AF9B7A}" type="presOf" srcId="{7A0CD90E-BF56-4123-BC73-B77832A31B4F}" destId="{F234B830-2921-4762-BA2A-EC6D73DF988F}" srcOrd="0" destOrd="0" presId="urn:microsoft.com/office/officeart/2005/8/layout/hierarchy1"/>
    <dgm:cxn modelId="{B4FA57FD-9734-47F6-B936-B2FA7A9B9063}" srcId="{C78E5F77-0A4C-4C65-9AEA-7C23F2261B13}" destId="{7A0CD90E-BF56-4123-BC73-B77832A31B4F}" srcOrd="0" destOrd="0" parTransId="{E6547DB3-0215-45C4-A556-3173D4E3C687}" sibTransId="{7902189A-259D-44D6-9B68-F14C36CF4ADB}"/>
    <dgm:cxn modelId="{DE35CE17-FF8E-49F6-BC8B-F2042A900B82}" type="presParOf" srcId="{B4DD3BF8-DB8E-4F1B-83AC-60EDCA12875F}" destId="{65D5EBA6-E346-418D-B8E1-AE69458C2967}" srcOrd="0" destOrd="0" presId="urn:microsoft.com/office/officeart/2005/8/layout/hierarchy1"/>
    <dgm:cxn modelId="{A107C490-42C6-4D78-9DCB-328DBC3C8153}" type="presParOf" srcId="{65D5EBA6-E346-418D-B8E1-AE69458C2967}" destId="{0CABA707-1620-4D61-A429-AB86A5E4FA67}" srcOrd="0" destOrd="0" presId="urn:microsoft.com/office/officeart/2005/8/layout/hierarchy1"/>
    <dgm:cxn modelId="{0AF04005-9E57-40B5-8DE6-D2C91A76D3E2}" type="presParOf" srcId="{0CABA707-1620-4D61-A429-AB86A5E4FA67}" destId="{DA11445D-3D7F-4565-83B2-B58B94EA2F0D}" srcOrd="0" destOrd="0" presId="urn:microsoft.com/office/officeart/2005/8/layout/hierarchy1"/>
    <dgm:cxn modelId="{03148600-D6DD-47EF-9C33-CA553113204A}" type="presParOf" srcId="{0CABA707-1620-4D61-A429-AB86A5E4FA67}" destId="{F234B830-2921-4762-BA2A-EC6D73DF988F}" srcOrd="1" destOrd="0" presId="urn:microsoft.com/office/officeart/2005/8/layout/hierarchy1"/>
    <dgm:cxn modelId="{E65428A4-3F07-498A-BE94-1D78290EFC56}" type="presParOf" srcId="{65D5EBA6-E346-418D-B8E1-AE69458C2967}" destId="{858CA83B-F515-4332-A484-8FF84D7D15A3}" srcOrd="1" destOrd="0" presId="urn:microsoft.com/office/officeart/2005/8/layout/hierarchy1"/>
    <dgm:cxn modelId="{9EB43821-30A6-4D86-B9AE-AA362CAF13F7}" type="presParOf" srcId="{B4DD3BF8-DB8E-4F1B-83AC-60EDCA12875F}" destId="{EBE91EB8-C08B-4581-A5E2-10541D06ADA1}" srcOrd="1" destOrd="0" presId="urn:microsoft.com/office/officeart/2005/8/layout/hierarchy1"/>
    <dgm:cxn modelId="{FC2C9660-2CCC-4DEA-8110-06B036DC7FE9}" type="presParOf" srcId="{EBE91EB8-C08B-4581-A5E2-10541D06ADA1}" destId="{EF4E555D-4CFF-446C-90CA-D9031B951339}" srcOrd="0" destOrd="0" presId="urn:microsoft.com/office/officeart/2005/8/layout/hierarchy1"/>
    <dgm:cxn modelId="{A39A64DA-2E8C-418E-907D-48F56115BCD3}" type="presParOf" srcId="{EF4E555D-4CFF-446C-90CA-D9031B951339}" destId="{C2DC5769-7AA9-43DF-94A2-A22BD7076B9B}" srcOrd="0" destOrd="0" presId="urn:microsoft.com/office/officeart/2005/8/layout/hierarchy1"/>
    <dgm:cxn modelId="{0DD18DEB-DDFE-4355-B6D9-BA2030DC015C}" type="presParOf" srcId="{EF4E555D-4CFF-446C-90CA-D9031B951339}" destId="{F5C7A6C8-CD30-4D45-B36A-E456A9CAB566}" srcOrd="1" destOrd="0" presId="urn:microsoft.com/office/officeart/2005/8/layout/hierarchy1"/>
    <dgm:cxn modelId="{8489C2FE-A26A-4EC2-B45E-F41FE7200222}" type="presParOf" srcId="{EBE91EB8-C08B-4581-A5E2-10541D06ADA1}" destId="{2741DABA-D401-4779-8D41-CAE0338B9FCF}" srcOrd="1" destOrd="0" presId="urn:microsoft.com/office/officeart/2005/8/layout/hierarchy1"/>
    <dgm:cxn modelId="{5FCDD9A1-04F4-42FF-AB1E-9E207A28E4ED}" type="presParOf" srcId="{B4DD3BF8-DB8E-4F1B-83AC-60EDCA12875F}" destId="{01C4DC3E-12A2-4CBF-A261-BD7ECBD4D58C}" srcOrd="2" destOrd="0" presId="urn:microsoft.com/office/officeart/2005/8/layout/hierarchy1"/>
    <dgm:cxn modelId="{211E1CD2-83D4-4746-8C3C-89888E2507BA}" type="presParOf" srcId="{01C4DC3E-12A2-4CBF-A261-BD7ECBD4D58C}" destId="{9AE180E8-272F-486D-9EA3-FABFF602EB7A}" srcOrd="0" destOrd="0" presId="urn:microsoft.com/office/officeart/2005/8/layout/hierarchy1"/>
    <dgm:cxn modelId="{6A7EAF50-3305-49E7-B3B3-9CC3E6D99F7A}" type="presParOf" srcId="{9AE180E8-272F-486D-9EA3-FABFF602EB7A}" destId="{FFDEC5A3-2C86-4A2E-BAFD-D6FA10C0BE48}" srcOrd="0" destOrd="0" presId="urn:microsoft.com/office/officeart/2005/8/layout/hierarchy1"/>
    <dgm:cxn modelId="{2AE061BC-F9D5-40C0-80D7-22DACC272894}" type="presParOf" srcId="{9AE180E8-272F-486D-9EA3-FABFF602EB7A}" destId="{0222ACA6-3F30-44D0-80E2-5A7912FC722C}" srcOrd="1" destOrd="0" presId="urn:microsoft.com/office/officeart/2005/8/layout/hierarchy1"/>
    <dgm:cxn modelId="{6F1E24E9-FDA1-4178-955B-AA82173C5FC0}" type="presParOf" srcId="{01C4DC3E-12A2-4CBF-A261-BD7ECBD4D58C}" destId="{BD8D54B2-0927-4444-A084-B3A75629C4A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A11445D-3D7F-4565-83B2-B58B94EA2F0D}">
      <dsp:nvSpPr>
        <dsp:cNvPr id="0" name=""/>
        <dsp:cNvSpPr/>
      </dsp:nvSpPr>
      <dsp:spPr>
        <a:xfrm>
          <a:off x="0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34B830-2921-4762-BA2A-EC6D73DF988F}">
      <dsp:nvSpPr>
        <dsp:cNvPr id="0" name=""/>
        <dsp:cNvSpPr/>
      </dsp:nvSpPr>
      <dsp:spPr>
        <a:xfrm>
          <a:off x="324326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Koja metoda najbolje balansira ID točnost i OOD detekciju?</a:t>
          </a:r>
        </a:p>
      </dsp:txBody>
      <dsp:txXfrm>
        <a:off x="378614" y="886531"/>
        <a:ext cx="2810360" cy="1744948"/>
      </dsp:txXfrm>
    </dsp:sp>
    <dsp:sp modelId="{C2DC5769-7AA9-43DF-94A2-A22BD7076B9B}">
      <dsp:nvSpPr>
        <dsp:cNvPr id="0" name=""/>
        <dsp:cNvSpPr/>
      </dsp:nvSpPr>
      <dsp:spPr>
        <a:xfrm>
          <a:off x="3567588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C7A6C8-CD30-4D45-B36A-E456A9CAB566}">
      <dsp:nvSpPr>
        <dsp:cNvPr id="0" name=""/>
        <dsp:cNvSpPr/>
      </dsp:nvSpPr>
      <dsp:spPr>
        <a:xfrm>
          <a:off x="3891915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Koliko shotova je potrebno da nadmašimo zero-shot?</a:t>
          </a:r>
        </a:p>
      </dsp:txBody>
      <dsp:txXfrm>
        <a:off x="3946203" y="886531"/>
        <a:ext cx="2810360" cy="1744948"/>
      </dsp:txXfrm>
    </dsp:sp>
    <dsp:sp modelId="{FFDEC5A3-2C86-4A2E-BAFD-D6FA10C0BE48}">
      <dsp:nvSpPr>
        <dsp:cNvPr id="0" name=""/>
        <dsp:cNvSpPr/>
      </dsp:nvSpPr>
      <dsp:spPr>
        <a:xfrm>
          <a:off x="7135177" y="524133"/>
          <a:ext cx="2918936" cy="185352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22ACA6-3F30-44D0-80E2-5A7912FC722C}">
      <dsp:nvSpPr>
        <dsp:cNvPr id="0" name=""/>
        <dsp:cNvSpPr/>
      </dsp:nvSpPr>
      <dsp:spPr>
        <a:xfrm>
          <a:off x="7459503" y="832243"/>
          <a:ext cx="2918936" cy="185352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Ako neka metoda ne uspijeva, zašto?</a:t>
          </a:r>
        </a:p>
      </dsp:txBody>
      <dsp:txXfrm>
        <a:off x="7513791" y="886531"/>
        <a:ext cx="2810360" cy="1744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datasets/catalog/imagenet2012_subset" TargetMode="External"/><Relationship Id="rId2" Type="http://schemas.openxmlformats.org/officeDocument/2006/relationships/hyperlink" Target="https://medium.com/@paluchasz/understanding-openais-clip-model-6b52bade3fa3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47750" y="1122363"/>
            <a:ext cx="10182225" cy="2387600"/>
          </a:xfrm>
        </p:spPr>
        <p:txBody>
          <a:bodyPr>
            <a:normAutofit fontScale="90000"/>
          </a:bodyPr>
          <a:lstStyle/>
          <a:p>
            <a:r>
              <a:rPr lang="en-US"/>
              <a:t>Few-shot out-of-distribution  </a:t>
            </a:r>
            <a:r>
              <a:rPr lang="en-US" err="1"/>
              <a:t>detekcija</a:t>
            </a:r>
            <a:r>
              <a:rPr lang="en-US"/>
              <a:t> s CLIP-om 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Dominik Agejev, Ivan Skukan, Ian Marković, Lucija Petkoviček, Leonora Đemaili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6D191-6790-AEF4-2A7C-9390328E7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EE486-D43C-0212-FA33-0A4B75710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Motivacija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F2DAD-9B90-61FD-B40F-DB835BD65C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/>
              <a:t>Kako </a:t>
            </a:r>
            <a:r>
              <a:rPr lang="en-US" err="1"/>
              <a:t>pouzdano</a:t>
            </a:r>
            <a:r>
              <a:rPr lang="en-US"/>
              <a:t> </a:t>
            </a:r>
            <a:r>
              <a:rPr lang="en-US" err="1"/>
              <a:t>klasificirati</a:t>
            </a:r>
            <a:r>
              <a:rPr lang="en-US"/>
              <a:t> </a:t>
            </a:r>
            <a:r>
              <a:rPr lang="en-US" err="1"/>
              <a:t>primjere</a:t>
            </a:r>
            <a:r>
              <a:rPr lang="en-US"/>
              <a:t> koji </a:t>
            </a:r>
            <a:r>
              <a:rPr lang="en-US" err="1"/>
              <a:t>su</a:t>
            </a:r>
            <a:r>
              <a:rPr lang="en-US"/>
              <a:t> </a:t>
            </a:r>
            <a:r>
              <a:rPr lang="en-US" err="1"/>
              <a:t>izvan</a:t>
            </a:r>
            <a:r>
              <a:rPr lang="en-US"/>
              <a:t> distribucije (OOD primjeri)?</a:t>
            </a:r>
          </a:p>
          <a:p>
            <a:endParaRPr lang="en-US"/>
          </a:p>
          <a:p>
            <a:r>
              <a:rPr lang="en-US" err="1"/>
              <a:t>Primjer</a:t>
            </a:r>
            <a:r>
              <a:rPr lang="en-US"/>
              <a:t>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AI </a:t>
            </a:r>
            <a:r>
              <a:rPr lang="en-US" err="1"/>
              <a:t>sustav</a:t>
            </a:r>
            <a:r>
              <a:rPr lang="en-US"/>
              <a:t> </a:t>
            </a:r>
            <a:r>
              <a:rPr lang="en-US" err="1"/>
              <a:t>treniran</a:t>
            </a:r>
            <a:r>
              <a:rPr lang="en-US"/>
              <a:t> </a:t>
            </a:r>
            <a:r>
              <a:rPr lang="en-US" err="1"/>
              <a:t>na</a:t>
            </a:r>
            <a:r>
              <a:rPr lang="en-US"/>
              <a:t> 1000 </a:t>
            </a:r>
            <a:r>
              <a:rPr lang="en-US" err="1"/>
              <a:t>bolesti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Pacijent</a:t>
            </a:r>
            <a:r>
              <a:rPr lang="en-US"/>
              <a:t> </a:t>
            </a:r>
            <a:r>
              <a:rPr lang="en-US" err="1"/>
              <a:t>ima</a:t>
            </a:r>
            <a:r>
              <a:rPr lang="en-US"/>
              <a:t> </a:t>
            </a:r>
            <a:r>
              <a:rPr lang="en-US" err="1"/>
              <a:t>rijetku</a:t>
            </a:r>
            <a:r>
              <a:rPr lang="en-US"/>
              <a:t> </a:t>
            </a:r>
            <a:r>
              <a:rPr lang="en-US" err="1"/>
              <a:t>bolest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Hoće</a:t>
            </a:r>
            <a:r>
              <a:rPr lang="en-US"/>
              <a:t> li </a:t>
            </a:r>
            <a:r>
              <a:rPr lang="en-US" err="1"/>
              <a:t>sustav</a:t>
            </a:r>
            <a:r>
              <a:rPr lang="en-US"/>
              <a:t> </a:t>
            </a:r>
            <a:r>
              <a:rPr lang="en-US" err="1"/>
              <a:t>reći</a:t>
            </a:r>
            <a:r>
              <a:rPr lang="en-US"/>
              <a:t> "ne </a:t>
            </a:r>
            <a:r>
              <a:rPr lang="en-US" err="1"/>
              <a:t>znam</a:t>
            </a:r>
            <a:r>
              <a:rPr lang="en-US"/>
              <a:t>" </a:t>
            </a:r>
            <a:r>
              <a:rPr lang="en-US" err="1"/>
              <a:t>ili</a:t>
            </a:r>
            <a:r>
              <a:rPr lang="en-US"/>
              <a:t> </a:t>
            </a:r>
            <a:r>
              <a:rPr lang="en-US" err="1"/>
              <a:t>dati</a:t>
            </a:r>
            <a:r>
              <a:rPr lang="en-US"/>
              <a:t> </a:t>
            </a:r>
            <a:r>
              <a:rPr lang="en-US" err="1"/>
              <a:t>pogrešnu</a:t>
            </a:r>
            <a:r>
              <a:rPr lang="en-US"/>
              <a:t> </a:t>
            </a:r>
            <a:r>
              <a:rPr lang="en-US" err="1"/>
              <a:t>dijagnozu</a:t>
            </a:r>
            <a:r>
              <a:rPr lang="en-US"/>
              <a:t>?</a:t>
            </a:r>
          </a:p>
          <a:p>
            <a:endParaRPr lang="en-US"/>
          </a:p>
          <a:p>
            <a:r>
              <a:rPr lang="en-US" err="1"/>
              <a:t>Primjer</a:t>
            </a:r>
            <a:r>
              <a:rPr lang="en-US"/>
              <a:t>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AI </a:t>
            </a:r>
            <a:r>
              <a:rPr lang="en-US" err="1"/>
              <a:t>sustav</a:t>
            </a:r>
            <a:r>
              <a:rPr lang="en-US"/>
              <a:t> </a:t>
            </a:r>
            <a:r>
              <a:rPr lang="en-US" err="1"/>
              <a:t>treniran</a:t>
            </a:r>
            <a:r>
              <a:rPr lang="en-US"/>
              <a:t> za </a:t>
            </a:r>
            <a:r>
              <a:rPr lang="en-US" err="1"/>
              <a:t>autonomnu</a:t>
            </a:r>
            <a:r>
              <a:rPr lang="en-US"/>
              <a:t> </a:t>
            </a:r>
            <a:r>
              <a:rPr lang="en-US" err="1"/>
              <a:t>vožnju</a:t>
            </a:r>
            <a:r>
              <a:rPr lang="en-US"/>
              <a:t> u </a:t>
            </a:r>
            <a:r>
              <a:rPr lang="en-US" err="1"/>
              <a:t>gradskim</a:t>
            </a:r>
            <a:r>
              <a:rPr lang="en-US"/>
              <a:t> </a:t>
            </a:r>
            <a:r>
              <a:rPr lang="en-US" err="1"/>
              <a:t>uvjetima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Slon </a:t>
            </a:r>
            <a:r>
              <a:rPr lang="en-US" err="1"/>
              <a:t>pobjegne</a:t>
            </a:r>
            <a:r>
              <a:rPr lang="en-US"/>
              <a:t> </a:t>
            </a:r>
            <a:r>
              <a:rPr lang="en-US" err="1"/>
              <a:t>iz</a:t>
            </a:r>
            <a:r>
              <a:rPr lang="en-US"/>
              <a:t> </a:t>
            </a:r>
            <a:r>
              <a:rPr lang="en-US" err="1"/>
              <a:t>zoološkog</a:t>
            </a:r>
            <a:r>
              <a:rPr lang="en-US"/>
              <a:t>. </a:t>
            </a:r>
            <a:r>
              <a:rPr lang="en-US" err="1"/>
              <a:t>Što</a:t>
            </a:r>
            <a:r>
              <a:rPr lang="en-US"/>
              <a:t> </a:t>
            </a:r>
            <a:r>
              <a:rPr lang="en-US" err="1"/>
              <a:t>će</a:t>
            </a:r>
            <a:r>
              <a:rPr lang="en-US"/>
              <a:t> </a:t>
            </a:r>
            <a:r>
              <a:rPr lang="en-US" err="1"/>
              <a:t>sustav</a:t>
            </a:r>
            <a:r>
              <a:rPr lang="en-US"/>
              <a:t> </a:t>
            </a:r>
            <a:r>
              <a:rPr lang="en-US" err="1"/>
              <a:t>zaključiti</a:t>
            </a:r>
            <a:r>
              <a:rPr lang="en-US"/>
              <a:t> </a:t>
            </a:r>
            <a:r>
              <a:rPr lang="en-US" err="1"/>
              <a:t>kad</a:t>
            </a:r>
            <a:r>
              <a:rPr lang="en-US"/>
              <a:t> ga </a:t>
            </a:r>
            <a:r>
              <a:rPr lang="en-US" err="1"/>
              <a:t>vidi</a:t>
            </a:r>
            <a:r>
              <a:rPr lang="en-US"/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08E30D-67C9-9D5C-AACC-B16F3CA4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662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C8533-1450-4956-F8CE-E99A8721C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Što</a:t>
            </a:r>
            <a:r>
              <a:rPr lang="en-US"/>
              <a:t> je CLIP?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A39D7-3018-9339-8371-333602A55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08915" cy="435133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r>
              <a:rPr lang="en-US"/>
              <a:t>Contrastive Language-Image Pretraining</a:t>
            </a:r>
          </a:p>
          <a:p>
            <a:r>
              <a:rPr lang="en-US"/>
              <a:t>Model </a:t>
            </a:r>
            <a:r>
              <a:rPr lang="en-US" err="1"/>
              <a:t>povezuje</a:t>
            </a:r>
            <a:r>
              <a:rPr lang="en-US"/>
              <a:t> </a:t>
            </a:r>
            <a:r>
              <a:rPr lang="en-US" err="1"/>
              <a:t>slike</a:t>
            </a:r>
            <a:r>
              <a:rPr lang="en-US"/>
              <a:t> </a:t>
            </a:r>
            <a:r>
              <a:rPr lang="en-US" err="1"/>
              <a:t>i</a:t>
            </a:r>
            <a:r>
              <a:rPr lang="en-US"/>
              <a:t> </a:t>
            </a:r>
            <a:r>
              <a:rPr lang="en-US" err="1"/>
              <a:t>tekst</a:t>
            </a:r>
            <a:r>
              <a:rPr lang="en-US"/>
              <a:t> u </a:t>
            </a:r>
            <a:r>
              <a:rPr lang="en-US" err="1"/>
              <a:t>zajednički</a:t>
            </a:r>
            <a:r>
              <a:rPr lang="en-US"/>
              <a:t> </a:t>
            </a:r>
            <a:r>
              <a:rPr lang="en-US" err="1"/>
              <a:t>semantički</a:t>
            </a:r>
            <a:r>
              <a:rPr lang="en-US"/>
              <a:t> </a:t>
            </a:r>
            <a:r>
              <a:rPr lang="en-US" err="1"/>
              <a:t>prostor</a:t>
            </a:r>
            <a:r>
              <a:rPr lang="en-US"/>
              <a:t>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"A photo of a dog" -&gt; </a:t>
            </a:r>
            <a:r>
              <a:rPr lang="en-US" err="1"/>
              <a:t>blizu</a:t>
            </a:r>
            <a:r>
              <a:rPr lang="en-US"/>
              <a:t> </a:t>
            </a:r>
            <a:r>
              <a:rPr lang="en-US" err="1"/>
              <a:t>slike</a:t>
            </a:r>
            <a:r>
              <a:rPr lang="en-US"/>
              <a:t> </a:t>
            </a:r>
            <a:r>
              <a:rPr lang="en-US" err="1"/>
              <a:t>psa</a:t>
            </a:r>
            <a:r>
              <a:rPr lang="en-US"/>
              <a:t> u </a:t>
            </a:r>
            <a:r>
              <a:rPr lang="en-US" err="1"/>
              <a:t>prostoru</a:t>
            </a:r>
            <a:r>
              <a:rPr lang="en-US"/>
              <a:t> </a:t>
            </a:r>
            <a:r>
              <a:rPr lang="en-US" err="1"/>
              <a:t>ugrađivanja</a:t>
            </a:r>
            <a:endParaRPr lang="en-US"/>
          </a:p>
          <a:p>
            <a:r>
              <a:rPr lang="en-US" err="1"/>
              <a:t>Arhitektura</a:t>
            </a:r>
            <a:r>
              <a:rPr lang="en-US"/>
              <a:t>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Encoder </a:t>
            </a:r>
            <a:r>
              <a:rPr lang="en-US" err="1"/>
              <a:t>slika</a:t>
            </a:r>
            <a:r>
              <a:rPr lang="en-US"/>
              <a:t>: </a:t>
            </a:r>
            <a:r>
              <a:rPr lang="en-US" err="1"/>
              <a:t>pretvara</a:t>
            </a:r>
            <a:r>
              <a:rPr lang="en-US"/>
              <a:t> </a:t>
            </a:r>
            <a:r>
              <a:rPr lang="en-US" err="1"/>
              <a:t>sliku</a:t>
            </a:r>
            <a:r>
              <a:rPr lang="en-US"/>
              <a:t> u 512-dim </a:t>
            </a:r>
            <a:r>
              <a:rPr lang="en-US" err="1"/>
              <a:t>vektor</a:t>
            </a:r>
            <a:r>
              <a:rPr lang="en-US"/>
              <a:t> 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Encoder </a:t>
            </a:r>
            <a:r>
              <a:rPr lang="en-US" err="1"/>
              <a:t>teksta</a:t>
            </a:r>
            <a:r>
              <a:rPr lang="en-US"/>
              <a:t>: </a:t>
            </a:r>
            <a:r>
              <a:rPr lang="en-US" err="1"/>
              <a:t>pretvara</a:t>
            </a:r>
            <a:r>
              <a:rPr lang="en-US"/>
              <a:t> </a:t>
            </a:r>
            <a:r>
              <a:rPr lang="en-US" err="1"/>
              <a:t>tekst</a:t>
            </a:r>
            <a:r>
              <a:rPr lang="en-US"/>
              <a:t> u 512-dim </a:t>
            </a:r>
            <a:r>
              <a:rPr lang="en-US" err="1"/>
              <a:t>vektor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>
                <a:ea typeface="+mn-lt"/>
                <a:cs typeface="+mn-lt"/>
              </a:rPr>
              <a:t>Učenje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temelju</a:t>
            </a:r>
            <a:r>
              <a:rPr lang="en-US">
                <a:ea typeface="+mn-lt"/>
                <a:cs typeface="+mn-lt"/>
              </a:rPr>
              <a:t> kontrasta vektora slike i teksta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/>
          </a:p>
          <a:p>
            <a:r>
              <a:rPr lang="en-US" err="1"/>
              <a:t>Zašto</a:t>
            </a:r>
            <a:r>
              <a:rPr lang="en-US"/>
              <a:t> CLIP?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Predtreniran</a:t>
            </a:r>
            <a:r>
              <a:rPr lang="en-US"/>
              <a:t> </a:t>
            </a:r>
            <a:r>
              <a:rPr lang="en-US" err="1"/>
              <a:t>na</a:t>
            </a:r>
            <a:r>
              <a:rPr lang="en-US"/>
              <a:t> 400m </a:t>
            </a:r>
            <a:r>
              <a:rPr lang="en-US" err="1"/>
              <a:t>slika-tekst</a:t>
            </a:r>
            <a:r>
              <a:rPr lang="en-US"/>
              <a:t> </a:t>
            </a:r>
            <a:r>
              <a:rPr lang="en-US" err="1"/>
              <a:t>parova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Zero-shot - </a:t>
            </a:r>
            <a:r>
              <a:rPr lang="en-US" err="1"/>
              <a:t>može</a:t>
            </a:r>
            <a:r>
              <a:rPr lang="en-US"/>
              <a:t> </a:t>
            </a:r>
            <a:r>
              <a:rPr lang="en-US" err="1"/>
              <a:t>klasificirati</a:t>
            </a:r>
            <a:r>
              <a:rPr lang="en-US"/>
              <a:t> s 0 primjera (baseline daljnje analize)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569E6C-575C-7A33-C5F9-D5BCD7249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 descr="A diagram of a data processing process&#10;&#10;AI-generated content may be incorrect.">
            <a:extLst>
              <a:ext uri="{FF2B5EF4-FFF2-40B4-BE49-F238E27FC236}">
                <a16:creationId xmlns:a16="http://schemas.microsoft.com/office/drawing/2014/main" id="{FED6E43B-C2B2-0DE4-2892-BE5994165F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013" b="20783"/>
          <a:stretch>
            <a:fillRect/>
          </a:stretch>
        </p:blipFill>
        <p:spPr>
          <a:xfrm>
            <a:off x="7086332" y="521710"/>
            <a:ext cx="4166113" cy="2904983"/>
          </a:xfrm>
          <a:prstGeom prst="rect">
            <a:avLst/>
          </a:prstGeom>
        </p:spPr>
      </p:pic>
      <p:pic>
        <p:nvPicPr>
          <p:cNvPr id="6" name="Picture 5" descr="A diagram of data processing&#10;&#10;AI-generated content may be incorrect.">
            <a:extLst>
              <a:ext uri="{FF2B5EF4-FFF2-40B4-BE49-F238E27FC236}">
                <a16:creationId xmlns:a16="http://schemas.microsoft.com/office/drawing/2014/main" id="{1256A5A9-D9C1-B0F2-7237-B0C2789922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333" t="1198" r="1067" b="10029"/>
          <a:stretch>
            <a:fillRect/>
          </a:stretch>
        </p:blipFill>
        <p:spPr>
          <a:xfrm>
            <a:off x="7301700" y="3272908"/>
            <a:ext cx="4048449" cy="327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349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40E93D9-F13F-4097-A159-E0A6CEBA8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B38B56-7760-79BA-009B-1F47CF6C2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916" y="444464"/>
            <a:ext cx="3420305" cy="1906317"/>
          </a:xfrm>
        </p:spPr>
        <p:txBody>
          <a:bodyPr>
            <a:normAutofit/>
          </a:bodyPr>
          <a:lstStyle/>
          <a:p>
            <a:pPr algn="ctr"/>
            <a:r>
              <a:rPr lang="en-US" sz="2800"/>
              <a:t>Definicija problema</a:t>
            </a:r>
          </a:p>
        </p:txBody>
      </p:sp>
      <p:pic>
        <p:nvPicPr>
          <p:cNvPr id="5" name="Picture 4" descr="A collage of images of animals and cars&#10;&#10;AI-generated content may be incorrect.">
            <a:extLst>
              <a:ext uri="{FF2B5EF4-FFF2-40B4-BE49-F238E27FC236}">
                <a16:creationId xmlns:a16="http://schemas.microsoft.com/office/drawing/2014/main" id="{063F2691-38F1-C2C6-2148-A78FA72BFA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3" r="3" b="3427"/>
          <a:stretch>
            <a:fillRect/>
          </a:stretch>
        </p:blipFill>
        <p:spPr>
          <a:xfrm>
            <a:off x="20" y="2768743"/>
            <a:ext cx="4278264" cy="408925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A3D150B-ADB5-401D-8304-C7845A1095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768743"/>
            <a:ext cx="4310288" cy="64008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AA89DC-1503-A2FB-BBBC-B1071C995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1646" y="678955"/>
            <a:ext cx="5586448" cy="540974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/>
              <a:t>Podaci: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ImageNet-1k za podatke iz distribucije (ID)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ImageNet-O za podatke van distribucije (OOD)</a:t>
            </a:r>
          </a:p>
          <a:p>
            <a:r>
              <a:rPr lang="en-US" sz="2000"/>
              <a:t>Ugrađivanje: CLIP ViT-B-16 (predtreniran)</a:t>
            </a:r>
          </a:p>
          <a:p>
            <a:r>
              <a:rPr lang="en-US" sz="2000"/>
              <a:t>CLIP određuje koliko je slika slična tekstu, ali ne povlači granicu između poznatog (ID) i nepoznatog (OOD)-&gt; klasifikacijske glave</a:t>
            </a:r>
          </a:p>
          <a:p>
            <a:r>
              <a:rPr lang="en-US" sz="2000"/>
              <a:t>Metode: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Zero-shot - temelj za usporedbu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Prototype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Linear probe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Gaussian</a:t>
            </a:r>
          </a:p>
          <a:p>
            <a:r>
              <a:rPr lang="en-US" sz="2000"/>
              <a:t>K-shots: 0,1,2,4,8,16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D3AB31-A71C-4414-BA05-CF667CBA3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5909" y="3396995"/>
            <a:ext cx="6858002" cy="64008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7213CA-56C3-E5C6-29EB-9E04967AF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30EA680-D336-4FF7-8B7A-9848BB0A1C32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97A31-0B3F-E152-6A98-9BD5F06E0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Klasifikacijske</a:t>
            </a:r>
            <a:r>
              <a:rPr lang="en-US"/>
              <a:t> </a:t>
            </a:r>
            <a:r>
              <a:rPr lang="en-US" err="1"/>
              <a:t>glave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E6BCB-C470-5067-B6BC-5CEC32D4A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77500" lnSpcReduction="20000"/>
          </a:bodyPr>
          <a:lstStyle/>
          <a:p>
            <a:r>
              <a:rPr lang="en-US"/>
              <a:t>Zero-shot: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Ugrađeni</a:t>
            </a:r>
            <a:r>
              <a:rPr lang="en-US"/>
              <a:t> </a:t>
            </a:r>
            <a:r>
              <a:rPr lang="en-US" err="1"/>
              <a:t>tekst</a:t>
            </a:r>
            <a:r>
              <a:rPr lang="en-US"/>
              <a:t>: "A photo of {class}" za </a:t>
            </a:r>
            <a:r>
              <a:rPr lang="en-US" err="1"/>
              <a:t>svih</a:t>
            </a:r>
            <a:r>
              <a:rPr lang="en-US"/>
              <a:t> 1000 </a:t>
            </a:r>
            <a:r>
              <a:rPr lang="en-US" err="1"/>
              <a:t>klasa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Ne </a:t>
            </a:r>
            <a:r>
              <a:rPr lang="en-US" err="1"/>
              <a:t>treniramo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Uzimamo</a:t>
            </a:r>
            <a:r>
              <a:rPr lang="en-US"/>
              <a:t> </a:t>
            </a:r>
            <a:r>
              <a:rPr lang="en-US" err="1"/>
              <a:t>prosjek</a:t>
            </a:r>
            <a:r>
              <a:rPr lang="en-US"/>
              <a:t> </a:t>
            </a:r>
            <a:r>
              <a:rPr lang="en-US" err="1"/>
              <a:t>više</a:t>
            </a:r>
            <a:r>
              <a:rPr lang="en-US"/>
              <a:t> </a:t>
            </a:r>
            <a:r>
              <a:rPr lang="en-US" err="1"/>
              <a:t>promptova</a:t>
            </a:r>
            <a:endParaRPr lang="en-US"/>
          </a:p>
          <a:p>
            <a:r>
              <a:rPr lang="en-US"/>
              <a:t>Prototype </a:t>
            </a:r>
            <a:r>
              <a:rPr lang="en-US" err="1"/>
              <a:t>glava</a:t>
            </a:r>
            <a:r>
              <a:rPr lang="en-US"/>
              <a:t>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Temelji</a:t>
            </a:r>
            <a:r>
              <a:rPr lang="en-US"/>
              <a:t> se </a:t>
            </a:r>
            <a:r>
              <a:rPr lang="en-US" err="1"/>
              <a:t>na</a:t>
            </a:r>
            <a:r>
              <a:rPr lang="en-US"/>
              <a:t> </a:t>
            </a:r>
            <a:r>
              <a:rPr lang="en-US" err="1"/>
              <a:t>kosinusnoj</a:t>
            </a:r>
            <a:r>
              <a:rPr lang="en-US"/>
              <a:t> </a:t>
            </a:r>
            <a:r>
              <a:rPr lang="en-US" err="1"/>
              <a:t>udaljenosti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Klasifikacija</a:t>
            </a:r>
            <a:r>
              <a:rPr lang="en-US"/>
              <a:t>: </a:t>
            </a:r>
            <a:r>
              <a:rPr lang="en-US" err="1"/>
              <a:t>najbliži</a:t>
            </a:r>
            <a:r>
              <a:rPr lang="en-US"/>
              <a:t> </a:t>
            </a:r>
            <a:r>
              <a:rPr lang="en-US" err="1"/>
              <a:t>prototip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OOD: </a:t>
            </a:r>
            <a:r>
              <a:rPr lang="en-US" err="1"/>
              <a:t>daleko</a:t>
            </a:r>
            <a:r>
              <a:rPr lang="en-US"/>
              <a:t> od </a:t>
            </a:r>
            <a:r>
              <a:rPr lang="en-US" err="1"/>
              <a:t>svih</a:t>
            </a:r>
            <a:r>
              <a:rPr lang="en-US"/>
              <a:t> </a:t>
            </a:r>
            <a:r>
              <a:rPr lang="en-US" err="1"/>
              <a:t>prototipa</a:t>
            </a:r>
          </a:p>
          <a:p>
            <a:r>
              <a:rPr lang="en-US" err="1"/>
              <a:t>Gaussova</a:t>
            </a:r>
            <a:r>
              <a:rPr lang="en-US"/>
              <a:t> </a:t>
            </a:r>
            <a:r>
              <a:rPr lang="en-US" err="1"/>
              <a:t>glava</a:t>
            </a:r>
            <a:r>
              <a:rPr lang="en-US"/>
              <a:t>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Za </a:t>
            </a:r>
            <a:r>
              <a:rPr lang="en-US" err="1"/>
              <a:t>svaku</a:t>
            </a:r>
            <a:r>
              <a:rPr lang="en-US"/>
              <a:t> </a:t>
            </a:r>
            <a:r>
              <a:rPr lang="en-US" err="1"/>
              <a:t>klasu</a:t>
            </a:r>
            <a:r>
              <a:rPr lang="en-US"/>
              <a:t> </a:t>
            </a:r>
            <a:r>
              <a:rPr lang="en-US" err="1"/>
              <a:t>dobijemo</a:t>
            </a:r>
            <a:r>
              <a:rPr lang="en-US"/>
              <a:t> </a:t>
            </a:r>
            <a:r>
              <a:rPr lang="en-US" err="1"/>
              <a:t>parametre</a:t>
            </a:r>
            <a:r>
              <a:rPr lang="en-US"/>
              <a:t> </a:t>
            </a:r>
            <a:r>
              <a:rPr lang="en-US" err="1"/>
              <a:t>Gaussove</a:t>
            </a:r>
            <a:r>
              <a:rPr lang="en-US"/>
              <a:t> </a:t>
            </a:r>
            <a:r>
              <a:rPr lang="en-US" err="1"/>
              <a:t>distribucije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Pretpostavimo</a:t>
            </a:r>
            <a:r>
              <a:rPr lang="en-US"/>
              <a:t> </a:t>
            </a:r>
            <a:r>
              <a:rPr lang="en-US" err="1"/>
              <a:t>istu</a:t>
            </a:r>
            <a:r>
              <a:rPr lang="en-US"/>
              <a:t> </a:t>
            </a:r>
            <a:r>
              <a:rPr lang="en-US" err="1"/>
              <a:t>kovarijacijsku</a:t>
            </a:r>
            <a:r>
              <a:rPr lang="en-US"/>
              <a:t> </a:t>
            </a:r>
            <a:r>
              <a:rPr lang="en-US" err="1"/>
              <a:t>matricu</a:t>
            </a:r>
            <a:r>
              <a:rPr lang="en-US"/>
              <a:t> za </a:t>
            </a:r>
            <a:r>
              <a:rPr lang="en-US" err="1"/>
              <a:t>sve</a:t>
            </a:r>
            <a:r>
              <a:rPr lang="en-US"/>
              <a:t> </a:t>
            </a:r>
            <a:r>
              <a:rPr lang="en-US" err="1"/>
              <a:t>klase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Problem: 512x512 </a:t>
            </a:r>
            <a:r>
              <a:rPr lang="en-US" err="1"/>
              <a:t>parametara</a:t>
            </a:r>
            <a:endParaRPr lang="en-US"/>
          </a:p>
          <a:p>
            <a:r>
              <a:rPr lang="en-US" err="1"/>
              <a:t>Linearna</a:t>
            </a:r>
            <a:r>
              <a:rPr lang="en-US"/>
              <a:t> </a:t>
            </a:r>
            <a:r>
              <a:rPr lang="en-US" err="1"/>
              <a:t>glava</a:t>
            </a:r>
            <a:r>
              <a:rPr lang="en-US"/>
              <a:t>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Linearni</a:t>
            </a:r>
            <a:r>
              <a:rPr lang="en-US"/>
              <a:t> model </a:t>
            </a:r>
            <a:r>
              <a:rPr lang="en-US" err="1"/>
              <a:t>klasificira</a:t>
            </a:r>
            <a:r>
              <a:rPr lang="en-US"/>
              <a:t> </a:t>
            </a:r>
            <a:r>
              <a:rPr lang="en-US" err="1"/>
              <a:t>ugrađivanja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Regulariziramo</a:t>
            </a:r>
            <a:r>
              <a:rPr lang="en-US"/>
              <a:t> s lambda = 0.01</a:t>
            </a:r>
          </a:p>
          <a:p>
            <a:pPr lvl="1">
              <a:buFont typeface="Courier New" panose="020B0604020202020204" pitchFamily="34" charset="0"/>
              <a:buChar char="o"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A5E05-F321-542D-40A5-673B576C0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645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DB9127-FBAD-A38C-0110-F7093736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Ključna pitanja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27284-F43F-666F-508B-C1F8560D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24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30EA680-D336-4FF7-8B7A-9848BB0A1C32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B8BDB74C-269A-FE4D-1945-5921B04942A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8853106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19763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6ABCAB-183D-B9B0-CAD6-1B869A339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err="1"/>
              <a:t>Pregled</a:t>
            </a:r>
            <a:r>
              <a:rPr lang="en-US" sz="4800"/>
              <a:t> </a:t>
            </a:r>
            <a:r>
              <a:rPr lang="en-US" sz="4800" err="1"/>
              <a:t>rezultata</a:t>
            </a:r>
            <a:r>
              <a:rPr lang="en-US" sz="4800"/>
              <a:t> - generalno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CC60F4-BAD5-6E1E-AA68-E6F3D3A3C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/>
              <a:t>Zero-shot je </a:t>
            </a:r>
            <a:r>
              <a:rPr lang="en-US" sz="2000" err="1"/>
              <a:t>na</a:t>
            </a:r>
            <a:r>
              <a:rPr lang="en-US" sz="2000"/>
              <a:t> 58.3%</a:t>
            </a:r>
          </a:p>
          <a:p>
            <a:endParaRPr lang="en-US" sz="2000"/>
          </a:p>
          <a:p>
            <a:r>
              <a:rPr lang="en-US" sz="2000"/>
              <a:t>Gaussian </a:t>
            </a:r>
            <a:r>
              <a:rPr lang="en-US" sz="2000" err="1"/>
              <a:t>propada</a:t>
            </a:r>
            <a:r>
              <a:rPr lang="en-US" sz="2000"/>
              <a:t> u OOD </a:t>
            </a:r>
            <a:r>
              <a:rPr lang="en-US" sz="2000" err="1"/>
              <a:t>metrikama</a:t>
            </a:r>
            <a:endParaRPr lang="en-US" sz="2000"/>
          </a:p>
          <a:p>
            <a:endParaRPr lang="en-US" sz="2000"/>
          </a:p>
          <a:p>
            <a:r>
              <a:rPr lang="en-US" sz="2000"/>
              <a:t>Prototype je </a:t>
            </a:r>
            <a:r>
              <a:rPr lang="en-US" sz="2000" err="1"/>
              <a:t>najbolji</a:t>
            </a:r>
            <a:r>
              <a:rPr lang="en-US" sz="2000"/>
              <a:t> za OOD AUROC </a:t>
            </a:r>
          </a:p>
          <a:p>
            <a:r>
              <a:rPr lang="en-US" sz="2000"/>
              <a:t>Prototype je </a:t>
            </a:r>
            <a:r>
              <a:rPr lang="en-US" sz="2000" err="1"/>
              <a:t>najbolji</a:t>
            </a:r>
            <a:r>
              <a:rPr lang="en-US" sz="2000"/>
              <a:t> za FPR@95 (</a:t>
            </a:r>
            <a:r>
              <a:rPr lang="en-US" sz="2000" err="1"/>
              <a:t>Niže</a:t>
            </a:r>
            <a:r>
              <a:rPr lang="en-US" sz="2000"/>
              <a:t> je </a:t>
            </a:r>
            <a:r>
              <a:rPr lang="en-US" sz="2000" err="1"/>
              <a:t>bolje</a:t>
            </a:r>
            <a:r>
              <a:rPr lang="en-US" sz="2000"/>
              <a:t>)</a:t>
            </a:r>
          </a:p>
          <a:p>
            <a:r>
              <a:rPr lang="en-US" sz="2000"/>
              <a:t>Prototype </a:t>
            </a:r>
            <a:r>
              <a:rPr lang="en-US" sz="2000" err="1"/>
              <a:t>ima</a:t>
            </a:r>
            <a:r>
              <a:rPr lang="en-US" sz="2000"/>
              <a:t> </a:t>
            </a:r>
            <a:r>
              <a:rPr lang="en-US" sz="2000" err="1"/>
              <a:t>najbolji</a:t>
            </a:r>
            <a:r>
              <a:rPr lang="en-US" sz="2000"/>
              <a:t> trade-off </a:t>
            </a:r>
          </a:p>
          <a:p>
            <a:endParaRPr lang="en-US" sz="2000"/>
          </a:p>
        </p:txBody>
      </p:sp>
      <p:pic>
        <p:nvPicPr>
          <p:cNvPr id="5" name="Picture 4" descr="A group of graphs showing different types of performance&#10;&#10;AI-generated content may be incorrect.">
            <a:extLst>
              <a:ext uri="{FF2B5EF4-FFF2-40B4-BE49-F238E27FC236}">
                <a16:creationId xmlns:a16="http://schemas.microsoft.com/office/drawing/2014/main" id="{FDE0CCFE-FFB9-16D1-98EF-C6895F4C8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2506590"/>
            <a:ext cx="5150277" cy="3669574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4E97F-68AD-927A-D5DA-A776257D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24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30EA680-D336-4FF7-8B7A-9848BB0A1C32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2756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E63478-D872-860A-ADD5-FA5864D82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err="1"/>
              <a:t>Pregled</a:t>
            </a:r>
            <a:r>
              <a:rPr lang="en-US" sz="4800"/>
              <a:t> </a:t>
            </a:r>
            <a:r>
              <a:rPr lang="en-US" sz="4800" err="1"/>
              <a:t>rezultata</a:t>
            </a:r>
            <a:r>
              <a:rPr lang="en-US" sz="4800"/>
              <a:t> – zero-shot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EEFD33F-6249-2FAE-5FBC-CFAB9DFCD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>
                <a:ea typeface="+mn-lt"/>
                <a:cs typeface="+mn-lt"/>
              </a:rPr>
              <a:t>Zero-Shot (K=0):  58.3% accuracy</a:t>
            </a:r>
            <a:endParaRPr lang="en-US" sz="2000"/>
          </a:p>
          <a:p>
            <a:r>
              <a:rPr lang="en-US" sz="2000">
                <a:ea typeface="+mn-lt"/>
                <a:cs typeface="+mn-lt"/>
              </a:rPr>
              <a:t>Few-Shot (K=1):   30.2% accuracy  (</a:t>
            </a:r>
            <a:r>
              <a:rPr lang="en-US" sz="2000" err="1">
                <a:ea typeface="+mn-lt"/>
                <a:cs typeface="+mn-lt"/>
              </a:rPr>
              <a:t>LinearProbe</a:t>
            </a:r>
            <a:r>
              <a:rPr lang="en-US" sz="2000">
                <a:ea typeface="+mn-lt"/>
                <a:cs typeface="+mn-lt"/>
              </a:rPr>
              <a:t>)</a:t>
            </a:r>
            <a:endParaRPr lang="en-US" sz="2000"/>
          </a:p>
          <a:p>
            <a:r>
              <a:rPr lang="en-US" sz="2000">
                <a:ea typeface="+mn-lt"/>
                <a:cs typeface="+mn-lt"/>
              </a:rPr>
              <a:t>Few-Shot (K=2):   41.0% accuracy  (Prototype)</a:t>
            </a:r>
            <a:endParaRPr lang="en-US" sz="2000"/>
          </a:p>
          <a:p>
            <a:r>
              <a:rPr lang="en-US" sz="2000">
                <a:ea typeface="+mn-lt"/>
                <a:cs typeface="+mn-lt"/>
              </a:rPr>
              <a:t>Few-Shot (K=4):   52.0% accuracy  (Prototype)</a:t>
            </a:r>
          </a:p>
          <a:p>
            <a:endParaRPr lang="en-US" sz="2000"/>
          </a:p>
          <a:p>
            <a:r>
              <a:rPr lang="en-US" sz="2000"/>
              <a:t>Mali confidence!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55F5DD-5AEA-E95F-145B-87D6CBE5A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2731915"/>
            <a:ext cx="5150277" cy="321892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83E4E-B8C3-7D51-3384-AAF87536E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24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30EA680-D336-4FF7-8B7A-9848BB0A1C32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44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FFE1C12-A0C7-D76E-4553-58143B896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en-US" sz="3700" err="1"/>
              <a:t>Pregled</a:t>
            </a:r>
            <a:r>
              <a:rPr lang="en-US" sz="3700"/>
              <a:t> </a:t>
            </a:r>
            <a:r>
              <a:rPr lang="en-US" sz="3700" err="1"/>
              <a:t>rezultata</a:t>
            </a:r>
            <a:r>
              <a:rPr lang="en-US" sz="3700"/>
              <a:t> – Gaussian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FB365-D019-40AF-563A-E7A29EA3E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/>
              <a:t>Gaussian </a:t>
            </a:r>
            <a:r>
              <a:rPr lang="en-US" sz="2000" err="1"/>
              <a:t>daje</a:t>
            </a:r>
            <a:r>
              <a:rPr lang="en-US" sz="2000"/>
              <a:t> </a:t>
            </a:r>
            <a:r>
              <a:rPr lang="en-US" sz="2000" err="1"/>
              <a:t>najveću</a:t>
            </a:r>
            <a:r>
              <a:rPr lang="en-US" sz="2000"/>
              <a:t> ID </a:t>
            </a:r>
            <a:r>
              <a:rPr lang="en-US" sz="2000" err="1"/>
              <a:t>točnost</a:t>
            </a:r>
            <a:r>
              <a:rPr lang="en-US" sz="2000"/>
              <a:t>, </a:t>
            </a:r>
            <a:r>
              <a:rPr lang="en-US" sz="2000" err="1"/>
              <a:t>ali</a:t>
            </a:r>
            <a:r>
              <a:rPr lang="en-US" sz="2000"/>
              <a:t> </a:t>
            </a:r>
            <a:r>
              <a:rPr lang="en-US" sz="2000" err="1"/>
              <a:t>najlošiju</a:t>
            </a:r>
            <a:r>
              <a:rPr lang="en-US" sz="2000"/>
              <a:t> OOD </a:t>
            </a:r>
            <a:r>
              <a:rPr lang="en-US" sz="2000" err="1"/>
              <a:t>detekciju</a:t>
            </a:r>
          </a:p>
          <a:p>
            <a:r>
              <a:rPr lang="en-US" sz="2000"/>
              <a:t>Model je </a:t>
            </a:r>
            <a:r>
              <a:rPr lang="en-US" sz="2000" err="1"/>
              <a:t>vrlo</a:t>
            </a:r>
            <a:r>
              <a:rPr lang="en-US" sz="2000"/>
              <a:t> </a:t>
            </a:r>
            <a:r>
              <a:rPr lang="en-US" sz="2000" err="1"/>
              <a:t>siguran</a:t>
            </a:r>
            <a:r>
              <a:rPr lang="en-US" sz="2000"/>
              <a:t> u </a:t>
            </a:r>
            <a:r>
              <a:rPr lang="en-US" sz="2000" err="1"/>
              <a:t>svoje</a:t>
            </a:r>
            <a:r>
              <a:rPr lang="en-US" sz="2000"/>
              <a:t> </a:t>
            </a:r>
            <a:r>
              <a:rPr lang="en-US" sz="2000" err="1"/>
              <a:t>predikcije</a:t>
            </a:r>
          </a:p>
          <a:p>
            <a:r>
              <a:rPr lang="en-US" sz="2000" err="1"/>
              <a:t>Teško</a:t>
            </a:r>
            <a:r>
              <a:rPr lang="en-US" sz="2000"/>
              <a:t> je </a:t>
            </a:r>
            <a:r>
              <a:rPr lang="en-US" sz="2000" err="1"/>
              <a:t>odvojiti</a:t>
            </a:r>
            <a:r>
              <a:rPr lang="en-US" sz="2000"/>
              <a:t> </a:t>
            </a:r>
            <a:r>
              <a:rPr lang="en-US" sz="2000" err="1"/>
              <a:t>distribucije</a:t>
            </a:r>
          </a:p>
          <a:p>
            <a:r>
              <a:rPr lang="en-US" sz="2000"/>
              <a:t>Model ne </a:t>
            </a:r>
            <a:r>
              <a:rPr lang="en-US" sz="2000" err="1"/>
              <a:t>zna</a:t>
            </a:r>
            <a:r>
              <a:rPr lang="en-US" sz="2000"/>
              <a:t> </a:t>
            </a:r>
            <a:r>
              <a:rPr lang="en-US" sz="2000" err="1"/>
              <a:t>što</a:t>
            </a:r>
            <a:r>
              <a:rPr lang="en-US" sz="2000"/>
              <a:t> se </a:t>
            </a:r>
            <a:r>
              <a:rPr lang="en-US" sz="2000" err="1"/>
              <a:t>događa</a:t>
            </a:r>
            <a:r>
              <a:rPr lang="en-US" sz="2000"/>
              <a:t> </a:t>
            </a:r>
            <a:r>
              <a:rPr lang="en-US" sz="2000" err="1"/>
              <a:t>kad</a:t>
            </a:r>
            <a:r>
              <a:rPr lang="en-US" sz="2000"/>
              <a:t> je K = 1 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FA5808-E47C-BB9F-1347-38EA34B63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6289" y="774285"/>
            <a:ext cx="4129875" cy="2581173"/>
          </a:xfrm>
          <a:prstGeom prst="rect">
            <a:avLst/>
          </a:prstGeom>
        </p:spPr>
      </p:pic>
      <p:pic>
        <p:nvPicPr>
          <p:cNvPr id="5" name="Picture 4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711F4433-D106-347F-1D2A-55A6753E9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6289" y="3575074"/>
            <a:ext cx="4129875" cy="258117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42BA4-05F1-D1BE-83FD-571414973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24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30EA680-D336-4FF7-8B7A-9848BB0A1C32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422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E6F6E3-7CF2-B49A-962A-732A1BF9E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US" sz="3700"/>
              <a:t>Pregled rezultata - Prototype (K=16)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1AE35F-EE6A-18A2-2746-BA7623DF2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/>
              <a:t>Marginalna ali konzistentna poboljšanja</a:t>
            </a:r>
          </a:p>
          <a:p>
            <a:endParaRPr lang="en-US" sz="2000"/>
          </a:p>
          <a:p>
            <a:r>
              <a:rPr lang="en-US" sz="2000"/>
              <a:t>Bolja OOD detekcija zbog malo udaljenijih distribucija</a:t>
            </a:r>
          </a:p>
          <a:p>
            <a:pPr marL="0" indent="0">
              <a:buNone/>
            </a:pPr>
            <a:endParaRPr lang="en-US" sz="2000"/>
          </a:p>
          <a:p>
            <a:r>
              <a:rPr lang="en-US" sz="2000"/>
              <a:t>Još uvijek je veliko preklapanje!</a:t>
            </a:r>
          </a:p>
          <a:p>
            <a:pPr marL="0" indent="0">
              <a:buNone/>
            </a:pPr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8A7CD894-25B7-252E-18D2-DDC5B744D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7135" y="581892"/>
            <a:ext cx="4030008" cy="2518756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graph of a diagram&#10;&#10;AI-generated content may be incorrect.">
            <a:extLst>
              <a:ext uri="{FF2B5EF4-FFF2-40B4-BE49-F238E27FC236}">
                <a16:creationId xmlns:a16="http://schemas.microsoft.com/office/drawing/2014/main" id="{44B8C984-0535-B423-A578-6BDB77217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1829" y="3707894"/>
            <a:ext cx="2518756" cy="251875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8C7E5-2A98-9E24-A9A9-B5C5EB49D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85070" y="6492240"/>
            <a:ext cx="105571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30EA680-D336-4FF7-8B7A-9848BB0A1C32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7069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CD3EE-0F73-4EB0-D44C-CC9F1A652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Hvala </a:t>
            </a:r>
            <a:r>
              <a:rPr lang="en-US" err="1"/>
              <a:t>na</a:t>
            </a:r>
            <a:r>
              <a:rPr lang="en-US"/>
              <a:t> </a:t>
            </a:r>
            <a:r>
              <a:rPr lang="en-US" err="1"/>
              <a:t>pažnji</a:t>
            </a:r>
            <a:r>
              <a:rPr lang="en-US"/>
              <a:t>!  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30F2B-4335-33E9-722C-213E43EB7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err="1"/>
              <a:t>Pitanja</a:t>
            </a:r>
            <a:r>
              <a:rPr lang="en-US"/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6EC20-E12A-77F1-536C-8EDF6F07F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059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9B94E-C07F-BDE9-EE56-54D2F17F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Izvori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754EB-D0AE-5222-191A-9DCA1FA9F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CLIP </a:t>
            </a:r>
            <a:r>
              <a:rPr lang="en-US" err="1"/>
              <a:t>slike</a:t>
            </a:r>
            <a:r>
              <a:rPr lang="en-US"/>
              <a:t>: </a:t>
            </a:r>
            <a:r>
              <a:rPr lang="en-US">
                <a:ea typeface="+mn-lt"/>
                <a:cs typeface="+mn-lt"/>
                <a:hlinkClick r:id="rId2"/>
              </a:rPr>
              <a:t>https://medium.com/@paluchasz/understanding-openais-clip-model-6b52bade3fa3</a:t>
            </a:r>
            <a:r>
              <a:rPr lang="en-US">
                <a:ea typeface="+mn-lt"/>
                <a:cs typeface="+mn-lt"/>
              </a:rPr>
              <a:t> </a:t>
            </a:r>
          </a:p>
          <a:p>
            <a:r>
              <a:rPr lang="en-US"/>
              <a:t>ImageNet </a:t>
            </a:r>
            <a:r>
              <a:rPr lang="en-US" err="1"/>
              <a:t>slika</a:t>
            </a:r>
            <a:r>
              <a:rPr lang="en-US"/>
              <a:t>: </a:t>
            </a:r>
            <a:r>
              <a:rPr lang="en-US">
                <a:ea typeface="+mn-lt"/>
                <a:cs typeface="+mn-lt"/>
                <a:hlinkClick r:id="rId3"/>
              </a:rPr>
              <a:t>https://www.tensorflow.org/datasets/catalog/imagenet2012_subset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F9CAB-D95D-F067-8101-0633A7812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887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12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Few-shot out-of-distribution  detekcija s CLIP-om  </vt:lpstr>
      <vt:lpstr>Motivacija</vt:lpstr>
      <vt:lpstr>Što je CLIP?</vt:lpstr>
      <vt:lpstr>Definicija problema</vt:lpstr>
      <vt:lpstr>Klasifikacijske glave</vt:lpstr>
      <vt:lpstr>Ključna pitanja</vt:lpstr>
      <vt:lpstr>Pregled rezultata - generalno</vt:lpstr>
      <vt:lpstr>Pregled rezultata – zero-shot</vt:lpstr>
      <vt:lpstr>Pregled rezultata – Gaussian</vt:lpstr>
      <vt:lpstr>Pregled rezultata - Prototype (K=16)</vt:lpstr>
      <vt:lpstr>Hvala na pažnji!  </vt:lpstr>
      <vt:lpstr>Izvori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</cp:revision>
  <dcterms:created xsi:type="dcterms:W3CDTF">2026-01-18T09:38:07Z</dcterms:created>
  <dcterms:modified xsi:type="dcterms:W3CDTF">2026-01-18T14:10:58Z</dcterms:modified>
</cp:coreProperties>
</file>